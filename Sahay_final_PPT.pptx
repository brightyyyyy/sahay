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94" r:id="rId4"/>
    <p:sldId id="277" r:id="rId5"/>
    <p:sldId id="297" r:id="rId6"/>
    <p:sldId id="296" r:id="rId7"/>
    <p:sldId id="285" r:id="rId8"/>
    <p:sldId id="289" r:id="rId9"/>
    <p:sldId id="292" r:id="rId10"/>
    <p:sldId id="275" r:id="rId11"/>
    <p:sldId id="298" r:id="rId12"/>
    <p:sldId id="291" r:id="rId13"/>
    <p:sldId id="288" r:id="rId14"/>
    <p:sldId id="272" r:id="rId15"/>
    <p:sldId id="258" r:id="rId16"/>
    <p:sldId id="278" r:id="rId17"/>
    <p:sldId id="279" r:id="rId18"/>
    <p:sldId id="280" r:id="rId19"/>
    <p:sldId id="281" r:id="rId20"/>
    <p:sldId id="282" r:id="rId21"/>
    <p:sldId id="283" r:id="rId22"/>
    <p:sldId id="284" r:id="rId23"/>
    <p:sldId id="286" r:id="rId24"/>
    <p:sldId id="287" r:id="rId2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rgbClr val="4471C4"/>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75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4471C4"/>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75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4471C4"/>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8000"/>
          </a:xfrm>
          <a:prstGeom prst="rect">
            <a:avLst/>
          </a:prstGeom>
        </p:spPr>
      </p:pic>
      <p:pic>
        <p:nvPicPr>
          <p:cNvPr id="17" name="bg object 17"/>
          <p:cNvPicPr/>
          <p:nvPr/>
        </p:nvPicPr>
        <p:blipFill>
          <a:blip r:embed="rId3" cstate="print"/>
          <a:stretch>
            <a:fillRect/>
          </a:stretch>
        </p:blipFill>
        <p:spPr>
          <a:xfrm>
            <a:off x="0" y="0"/>
            <a:ext cx="12172950" cy="6858000"/>
          </a:xfrm>
          <a:prstGeom prst="rect">
            <a:avLst/>
          </a:prstGeom>
        </p:spPr>
      </p:pic>
      <p:pic>
        <p:nvPicPr>
          <p:cNvPr id="18" name="bg object 18"/>
          <p:cNvPicPr/>
          <p:nvPr/>
        </p:nvPicPr>
        <p:blipFill>
          <a:blip r:embed="rId4" cstate="print"/>
          <a:stretch>
            <a:fillRect/>
          </a:stretch>
        </p:blipFill>
        <p:spPr>
          <a:xfrm>
            <a:off x="9772650" y="161925"/>
            <a:ext cx="2181225" cy="600075"/>
          </a:xfrm>
          <a:prstGeom prst="rect">
            <a:avLst/>
          </a:prstGeom>
        </p:spPr>
      </p:pic>
      <p:sp>
        <p:nvSpPr>
          <p:cNvPr id="2" name="Holder 2"/>
          <p:cNvSpPr>
            <a:spLocks noGrp="1"/>
          </p:cNvSpPr>
          <p:nvPr>
            <p:ph type="title"/>
          </p:nvPr>
        </p:nvSpPr>
        <p:spPr/>
        <p:txBody>
          <a:bodyPr lIns="0" tIns="0" rIns="0" bIns="0"/>
          <a:lstStyle>
            <a:lvl1pPr>
              <a:defRPr sz="4400" b="0" i="0">
                <a:solidFill>
                  <a:srgbClr val="4471C4"/>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46442" y="227711"/>
            <a:ext cx="6375717" cy="1082611"/>
          </a:xfrm>
          <a:prstGeom prst="rect">
            <a:avLst/>
          </a:prstGeom>
        </p:spPr>
        <p:txBody>
          <a:bodyPr wrap="square" lIns="0" tIns="0" rIns="0" bIns="0">
            <a:spAutoFit/>
          </a:bodyPr>
          <a:lstStyle>
            <a:lvl1pPr>
              <a:defRPr sz="4400" b="0" i="0">
                <a:solidFill>
                  <a:srgbClr val="4471C4"/>
                </a:solidFill>
                <a:latin typeface="Calibri Light"/>
                <a:cs typeface="Calibri Light"/>
              </a:defRPr>
            </a:lvl1pPr>
          </a:lstStyle>
          <a:p>
            <a:endParaRPr/>
          </a:p>
        </p:txBody>
      </p:sp>
      <p:sp>
        <p:nvSpPr>
          <p:cNvPr id="3" name="Holder 3"/>
          <p:cNvSpPr>
            <a:spLocks noGrp="1"/>
          </p:cNvSpPr>
          <p:nvPr>
            <p:ph type="body" idx="1"/>
          </p:nvPr>
        </p:nvSpPr>
        <p:spPr>
          <a:xfrm>
            <a:off x="1072197" y="1924430"/>
            <a:ext cx="10114915" cy="2633345"/>
          </a:xfrm>
          <a:prstGeom prst="rect">
            <a:avLst/>
          </a:prstGeom>
        </p:spPr>
        <p:txBody>
          <a:bodyPr wrap="square" lIns="0" tIns="0" rIns="0" bIns="0">
            <a:spAutoFit/>
          </a:bodyPr>
          <a:lstStyle>
            <a:lvl1pPr>
              <a:defRPr sz="275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11/14/2025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hyperlink" Target="https://dl.acm.org/doi/10.1145/3637364" TargetMode="External"/><Relationship Id="rId2" Type="http://schemas.openxmlformats.org/officeDocument/2006/relationships/hyperlink" Target="https://ieeexplore.ieee.org/iel7/6287639/10380310/10440330.pdf"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hyperlink" Target="https://arxiv.org/abs/2411.12808" TargetMode="External"/><Relationship Id="rId7" Type="http://schemas.openxmlformats.org/officeDocument/2006/relationships/image" Target="../media/image3.jpg"/><Relationship Id="rId2" Type="http://schemas.openxmlformats.org/officeDocument/2006/relationships/hyperlink" Target="https://www.scribd.com/document/828419263/AI-HEALTH-ASSISTANT-PROJECT-BY-TUSHAR-BISANE-2025"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jmir.org/2020/9/e20701/"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ieeexplore.ieee.org/iel7/6287639/10380310/10440330.pdf" TargetMode="Externa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l.acm.org/doi/10.1145/3637364" TargetMode="Externa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scribd.com/document/828419263/AI-HEALTH-ASSISTANT-PROJECT-BY-TUSHAR-BISANE-2025" TargetMode="Externa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arxiv.org/abs/2411.12808" TargetMode="Externa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jmir.org/2020/9/e20701/" TargetMode="Externa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8000"/>
            </a:xfrm>
            <a:prstGeom prst="rect">
              <a:avLst/>
            </a:prstGeom>
          </p:spPr>
        </p:pic>
        <p:pic>
          <p:nvPicPr>
            <p:cNvPr id="4" name="object 4"/>
            <p:cNvPicPr/>
            <p:nvPr/>
          </p:nvPicPr>
          <p:blipFill>
            <a:blip r:embed="rId3" cstate="print"/>
            <a:stretch>
              <a:fillRect/>
            </a:stretch>
          </p:blipFill>
          <p:spPr>
            <a:xfrm>
              <a:off x="0" y="0"/>
              <a:ext cx="12172950" cy="6858000"/>
            </a:xfrm>
            <a:prstGeom prst="rect">
              <a:avLst/>
            </a:prstGeom>
          </p:spPr>
        </p:pic>
        <p:pic>
          <p:nvPicPr>
            <p:cNvPr id="5" name="object 5"/>
            <p:cNvPicPr/>
            <p:nvPr/>
          </p:nvPicPr>
          <p:blipFill>
            <a:blip r:embed="rId4" cstate="print"/>
            <a:stretch>
              <a:fillRect/>
            </a:stretch>
          </p:blipFill>
          <p:spPr>
            <a:xfrm>
              <a:off x="228600" y="180975"/>
              <a:ext cx="11839575" cy="952500"/>
            </a:xfrm>
            <a:prstGeom prst="rect">
              <a:avLst/>
            </a:prstGeom>
          </p:spPr>
        </p:pic>
      </p:grpSp>
      <p:sp>
        <p:nvSpPr>
          <p:cNvPr id="6" name="object 6"/>
          <p:cNvSpPr txBox="1">
            <a:spLocks noGrp="1"/>
          </p:cNvSpPr>
          <p:nvPr>
            <p:ph type="title"/>
          </p:nvPr>
        </p:nvSpPr>
        <p:spPr>
          <a:xfrm>
            <a:off x="4113213" y="1309534"/>
            <a:ext cx="3787775" cy="849630"/>
          </a:xfrm>
          <a:prstGeom prst="rect">
            <a:avLst/>
          </a:prstGeom>
        </p:spPr>
        <p:txBody>
          <a:bodyPr vert="horz" wrap="square" lIns="0" tIns="13335" rIns="0" bIns="0" rtlCol="0">
            <a:spAutoFit/>
          </a:bodyPr>
          <a:lstStyle/>
          <a:p>
            <a:pPr marL="12700">
              <a:lnSpc>
                <a:spcPct val="100000"/>
              </a:lnSpc>
              <a:spcBef>
                <a:spcPts val="105"/>
              </a:spcBef>
            </a:pPr>
            <a:r>
              <a:rPr sz="5400" dirty="0">
                <a:solidFill>
                  <a:srgbClr val="000000"/>
                </a:solidFill>
                <a:latin typeface="Calibri"/>
                <a:cs typeface="Calibri"/>
              </a:rPr>
              <a:t>Project</a:t>
            </a:r>
            <a:r>
              <a:rPr sz="5400" spc="-130" dirty="0">
                <a:solidFill>
                  <a:srgbClr val="000000"/>
                </a:solidFill>
                <a:latin typeface="Calibri"/>
                <a:cs typeface="Calibri"/>
              </a:rPr>
              <a:t> </a:t>
            </a:r>
            <a:r>
              <a:rPr sz="5400" spc="-10" dirty="0">
                <a:solidFill>
                  <a:srgbClr val="000000"/>
                </a:solidFill>
                <a:latin typeface="Calibri"/>
                <a:cs typeface="Calibri"/>
              </a:rPr>
              <a:t>Sahay</a:t>
            </a:r>
            <a:endParaRPr sz="5400" dirty="0">
              <a:latin typeface="Calibri"/>
              <a:cs typeface="Calibri"/>
            </a:endParaRPr>
          </a:p>
        </p:txBody>
      </p:sp>
      <p:sp>
        <p:nvSpPr>
          <p:cNvPr id="7" name="object 7"/>
          <p:cNvSpPr txBox="1"/>
          <p:nvPr/>
        </p:nvSpPr>
        <p:spPr>
          <a:xfrm>
            <a:off x="987742" y="5044122"/>
            <a:ext cx="3302000" cy="576580"/>
          </a:xfrm>
          <a:prstGeom prst="rect">
            <a:avLst/>
          </a:prstGeom>
        </p:spPr>
        <p:txBody>
          <a:bodyPr vert="horz" wrap="square" lIns="0" tIns="10795" rIns="0" bIns="0" rtlCol="0">
            <a:spAutoFit/>
          </a:bodyPr>
          <a:lstStyle/>
          <a:p>
            <a:pPr marL="12700" marR="5080">
              <a:lnSpc>
                <a:spcPct val="100800"/>
              </a:lnSpc>
              <a:spcBef>
                <a:spcPts val="85"/>
              </a:spcBef>
            </a:pPr>
            <a:r>
              <a:rPr sz="1800" b="1" dirty="0">
                <a:latin typeface="Times New Roman"/>
                <a:cs typeface="Times New Roman"/>
              </a:rPr>
              <a:t>Guide</a:t>
            </a:r>
            <a:r>
              <a:rPr sz="1800" b="1" spc="-15" dirty="0">
                <a:latin typeface="Times New Roman"/>
                <a:cs typeface="Times New Roman"/>
              </a:rPr>
              <a:t> </a:t>
            </a:r>
            <a:r>
              <a:rPr sz="1800" b="1" dirty="0">
                <a:latin typeface="Times New Roman"/>
                <a:cs typeface="Times New Roman"/>
              </a:rPr>
              <a:t>Name:Mrs.</a:t>
            </a:r>
            <a:r>
              <a:rPr sz="1800" b="1" spc="-35" dirty="0">
                <a:latin typeface="Times New Roman"/>
                <a:cs typeface="Times New Roman"/>
              </a:rPr>
              <a:t> </a:t>
            </a:r>
            <a:r>
              <a:rPr sz="1800" b="1" dirty="0">
                <a:latin typeface="Times New Roman"/>
                <a:cs typeface="Times New Roman"/>
              </a:rPr>
              <a:t>Navyatha</a:t>
            </a:r>
            <a:r>
              <a:rPr sz="1800" b="1" spc="-25" dirty="0">
                <a:latin typeface="Times New Roman"/>
                <a:cs typeface="Times New Roman"/>
              </a:rPr>
              <a:t> </a:t>
            </a:r>
            <a:r>
              <a:rPr sz="1800" b="1" spc="-20" dirty="0">
                <a:latin typeface="Times New Roman"/>
                <a:cs typeface="Times New Roman"/>
              </a:rPr>
              <a:t>Ravi </a:t>
            </a:r>
            <a:r>
              <a:rPr sz="1800" b="1" dirty="0">
                <a:latin typeface="Times New Roman"/>
                <a:cs typeface="Times New Roman"/>
              </a:rPr>
              <a:t>Assistant</a:t>
            </a:r>
            <a:r>
              <a:rPr sz="1800" b="1" spc="-55" dirty="0">
                <a:latin typeface="Times New Roman"/>
                <a:cs typeface="Times New Roman"/>
              </a:rPr>
              <a:t> </a:t>
            </a:r>
            <a:r>
              <a:rPr sz="1800" b="1" spc="-10" dirty="0">
                <a:latin typeface="Times New Roman"/>
                <a:cs typeface="Times New Roman"/>
              </a:rPr>
              <a:t>Professor</a:t>
            </a:r>
            <a:endParaRPr sz="1800" dirty="0">
              <a:latin typeface="Times New Roman"/>
              <a:cs typeface="Times New Roman"/>
            </a:endParaRPr>
          </a:p>
        </p:txBody>
      </p:sp>
      <p:sp>
        <p:nvSpPr>
          <p:cNvPr id="8" name="object 8"/>
          <p:cNvSpPr txBox="1"/>
          <p:nvPr/>
        </p:nvSpPr>
        <p:spPr>
          <a:xfrm>
            <a:off x="987742" y="5864542"/>
            <a:ext cx="2724785"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Department</a:t>
            </a:r>
            <a:r>
              <a:rPr sz="1800" spc="-45" dirty="0">
                <a:latin typeface="Times New Roman"/>
                <a:cs typeface="Times New Roman"/>
              </a:rPr>
              <a:t> </a:t>
            </a:r>
            <a:r>
              <a:rPr sz="1800" dirty="0">
                <a:latin typeface="Times New Roman"/>
                <a:cs typeface="Times New Roman"/>
              </a:rPr>
              <a:t>of</a:t>
            </a:r>
            <a:r>
              <a:rPr sz="1800" spc="465" dirty="0">
                <a:latin typeface="Times New Roman"/>
                <a:cs typeface="Times New Roman"/>
              </a:rPr>
              <a:t> </a:t>
            </a:r>
            <a:r>
              <a:rPr sz="1800" dirty="0">
                <a:latin typeface="Times New Roman"/>
                <a:cs typeface="Times New Roman"/>
              </a:rPr>
              <a:t>Data</a:t>
            </a:r>
            <a:r>
              <a:rPr sz="1800" spc="35" dirty="0">
                <a:latin typeface="Times New Roman"/>
                <a:cs typeface="Times New Roman"/>
              </a:rPr>
              <a:t> </a:t>
            </a:r>
            <a:r>
              <a:rPr sz="1800" spc="-10" dirty="0">
                <a:latin typeface="Times New Roman"/>
                <a:cs typeface="Times New Roman"/>
              </a:rPr>
              <a:t>Science.</a:t>
            </a:r>
            <a:endParaRPr sz="1800">
              <a:latin typeface="Times New Roman"/>
              <a:cs typeface="Times New Roman"/>
            </a:endParaRPr>
          </a:p>
        </p:txBody>
      </p:sp>
      <p:sp>
        <p:nvSpPr>
          <p:cNvPr id="9" name="object 9"/>
          <p:cNvSpPr txBox="1"/>
          <p:nvPr/>
        </p:nvSpPr>
        <p:spPr>
          <a:xfrm>
            <a:off x="8429625" y="4386262"/>
            <a:ext cx="1365250"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Presented</a:t>
            </a:r>
            <a:r>
              <a:rPr sz="1800" spc="-15" dirty="0">
                <a:latin typeface="Calibri"/>
                <a:cs typeface="Calibri"/>
              </a:rPr>
              <a:t> </a:t>
            </a:r>
            <a:r>
              <a:rPr sz="1800" dirty="0">
                <a:latin typeface="Calibri"/>
                <a:cs typeface="Calibri"/>
              </a:rPr>
              <a:t>By</a:t>
            </a:r>
            <a:r>
              <a:rPr sz="1800" spc="-40" dirty="0">
                <a:latin typeface="Calibri"/>
                <a:cs typeface="Calibri"/>
              </a:rPr>
              <a:t> </a:t>
            </a:r>
            <a:r>
              <a:rPr sz="1800" spc="-50" dirty="0">
                <a:latin typeface="Calibri"/>
                <a:cs typeface="Calibri"/>
              </a:rPr>
              <a:t>-</a:t>
            </a:r>
            <a:endParaRPr sz="1800">
              <a:latin typeface="Calibri"/>
              <a:cs typeface="Calibri"/>
            </a:endParaRPr>
          </a:p>
        </p:txBody>
      </p:sp>
      <p:sp>
        <p:nvSpPr>
          <p:cNvPr id="10" name="object 10"/>
          <p:cNvSpPr txBox="1"/>
          <p:nvPr/>
        </p:nvSpPr>
        <p:spPr>
          <a:xfrm>
            <a:off x="1008697" y="4452302"/>
            <a:ext cx="2141220"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Under</a:t>
            </a:r>
            <a:r>
              <a:rPr sz="1800" spc="-40" dirty="0">
                <a:latin typeface="Calibri"/>
                <a:cs typeface="Calibri"/>
              </a:rPr>
              <a:t> </a:t>
            </a:r>
            <a:r>
              <a:rPr sz="1800" dirty="0">
                <a:latin typeface="Calibri"/>
                <a:cs typeface="Calibri"/>
              </a:rPr>
              <a:t>the</a:t>
            </a:r>
            <a:r>
              <a:rPr sz="1800" spc="-15" dirty="0">
                <a:latin typeface="Calibri"/>
                <a:cs typeface="Calibri"/>
              </a:rPr>
              <a:t> </a:t>
            </a:r>
            <a:r>
              <a:rPr sz="1800" dirty="0">
                <a:latin typeface="Calibri"/>
                <a:cs typeface="Calibri"/>
              </a:rPr>
              <a:t>Guidance</a:t>
            </a:r>
            <a:r>
              <a:rPr sz="1800" spc="-15" dirty="0">
                <a:latin typeface="Calibri"/>
                <a:cs typeface="Calibri"/>
              </a:rPr>
              <a:t> </a:t>
            </a:r>
            <a:r>
              <a:rPr sz="1800" spc="-25" dirty="0">
                <a:latin typeface="Calibri"/>
                <a:cs typeface="Calibri"/>
              </a:rPr>
              <a:t>of</a:t>
            </a:r>
            <a:endParaRPr sz="1800">
              <a:latin typeface="Calibri"/>
              <a:cs typeface="Calibri"/>
            </a:endParaRPr>
          </a:p>
        </p:txBody>
      </p:sp>
      <p:sp>
        <p:nvSpPr>
          <p:cNvPr id="11" name="object 11"/>
          <p:cNvSpPr txBox="1"/>
          <p:nvPr/>
        </p:nvSpPr>
        <p:spPr>
          <a:xfrm>
            <a:off x="7633081" y="5034597"/>
            <a:ext cx="1793239" cy="1130300"/>
          </a:xfrm>
          <a:prstGeom prst="rect">
            <a:avLst/>
          </a:prstGeom>
        </p:spPr>
        <p:txBody>
          <a:bodyPr vert="horz" wrap="square" lIns="0" tIns="12700" rIns="0" bIns="0" rtlCol="0">
            <a:spAutoFit/>
          </a:bodyPr>
          <a:lstStyle/>
          <a:p>
            <a:pPr marL="12700">
              <a:lnSpc>
                <a:spcPct val="100000"/>
              </a:lnSpc>
              <a:spcBef>
                <a:spcPts val="100"/>
              </a:spcBef>
            </a:pPr>
            <a:r>
              <a:rPr sz="1800" b="1" spc="-20" dirty="0">
                <a:latin typeface="Calibri"/>
                <a:cs typeface="Calibri"/>
              </a:rPr>
              <a:t>Name</a:t>
            </a:r>
            <a:endParaRPr sz="1800" b="1" dirty="0">
              <a:latin typeface="Calibri"/>
              <a:cs typeface="Calibri"/>
            </a:endParaRPr>
          </a:p>
          <a:p>
            <a:pPr marL="12700" marR="5080">
              <a:lnSpc>
                <a:spcPct val="100800"/>
              </a:lnSpc>
            </a:pPr>
            <a:r>
              <a:rPr sz="1800" spc="-35" dirty="0">
                <a:latin typeface="Calibri"/>
                <a:cs typeface="Calibri"/>
              </a:rPr>
              <a:t>G.SAMPATH</a:t>
            </a:r>
            <a:r>
              <a:rPr sz="1800" spc="-55" dirty="0">
                <a:latin typeface="Calibri"/>
                <a:cs typeface="Calibri"/>
              </a:rPr>
              <a:t> </a:t>
            </a:r>
            <a:r>
              <a:rPr sz="1800" spc="-50" dirty="0">
                <a:latin typeface="Calibri"/>
                <a:cs typeface="Calibri"/>
              </a:rPr>
              <a:t>YADAV </a:t>
            </a:r>
            <a:r>
              <a:rPr sz="1800" dirty="0">
                <a:latin typeface="Calibri"/>
                <a:cs typeface="Calibri"/>
              </a:rPr>
              <a:t>K.BRIGHTY</a:t>
            </a:r>
            <a:r>
              <a:rPr sz="1800" spc="-25" dirty="0">
                <a:latin typeface="Calibri"/>
                <a:cs typeface="Calibri"/>
              </a:rPr>
              <a:t> </a:t>
            </a:r>
            <a:r>
              <a:rPr sz="1800" spc="-20" dirty="0">
                <a:latin typeface="Calibri"/>
                <a:cs typeface="Calibri"/>
              </a:rPr>
              <a:t>JOEL</a:t>
            </a:r>
            <a:endParaRPr sz="1800" dirty="0">
              <a:latin typeface="Calibri"/>
              <a:cs typeface="Calibri"/>
            </a:endParaRPr>
          </a:p>
          <a:p>
            <a:pPr marL="12700">
              <a:lnSpc>
                <a:spcPct val="100000"/>
              </a:lnSpc>
              <a:spcBef>
                <a:spcPts val="20"/>
              </a:spcBef>
            </a:pPr>
            <a:r>
              <a:rPr sz="1800" dirty="0">
                <a:latin typeface="Calibri"/>
                <a:cs typeface="Calibri"/>
              </a:rPr>
              <a:t>G.</a:t>
            </a:r>
            <a:r>
              <a:rPr sz="1800" spc="-30" dirty="0">
                <a:latin typeface="Calibri"/>
                <a:cs typeface="Calibri"/>
              </a:rPr>
              <a:t> </a:t>
            </a:r>
            <a:r>
              <a:rPr sz="1800" dirty="0">
                <a:latin typeface="Calibri"/>
                <a:cs typeface="Calibri"/>
              </a:rPr>
              <a:t>SRUJAN</a:t>
            </a:r>
            <a:r>
              <a:rPr sz="1800" spc="-60" dirty="0">
                <a:latin typeface="Calibri"/>
                <a:cs typeface="Calibri"/>
              </a:rPr>
              <a:t> </a:t>
            </a:r>
            <a:r>
              <a:rPr sz="1800" spc="-10" dirty="0">
                <a:latin typeface="Calibri"/>
                <a:cs typeface="Calibri"/>
              </a:rPr>
              <a:t>KUMAR</a:t>
            </a:r>
            <a:endParaRPr sz="1800" dirty="0">
              <a:latin typeface="Calibri"/>
              <a:cs typeface="Calibri"/>
            </a:endParaRPr>
          </a:p>
        </p:txBody>
      </p:sp>
      <p:sp>
        <p:nvSpPr>
          <p:cNvPr id="12" name="object 12"/>
          <p:cNvSpPr txBox="1"/>
          <p:nvPr/>
        </p:nvSpPr>
        <p:spPr>
          <a:xfrm>
            <a:off x="10189400" y="5034597"/>
            <a:ext cx="1220470" cy="1130300"/>
          </a:xfrm>
          <a:prstGeom prst="rect">
            <a:avLst/>
          </a:prstGeom>
        </p:spPr>
        <p:txBody>
          <a:bodyPr vert="horz" wrap="square" lIns="0" tIns="10795" rIns="0" bIns="0" rtlCol="0">
            <a:spAutoFit/>
          </a:bodyPr>
          <a:lstStyle/>
          <a:p>
            <a:pPr marL="12065" marR="17780" indent="-48895" algn="ctr">
              <a:lnSpc>
                <a:spcPct val="100800"/>
              </a:lnSpc>
              <a:spcBef>
                <a:spcPts val="85"/>
              </a:spcBef>
            </a:pPr>
            <a:r>
              <a:rPr sz="1800" b="1" dirty="0">
                <a:latin typeface="Calibri"/>
                <a:cs typeface="Calibri"/>
              </a:rPr>
              <a:t>Roll</a:t>
            </a:r>
            <a:r>
              <a:rPr sz="1800" b="1" spc="-100" dirty="0">
                <a:latin typeface="Calibri"/>
                <a:cs typeface="Calibri"/>
              </a:rPr>
              <a:t> </a:t>
            </a:r>
            <a:r>
              <a:rPr sz="1800" b="1" spc="-25" dirty="0">
                <a:latin typeface="Calibri"/>
                <a:cs typeface="Calibri"/>
              </a:rPr>
              <a:t>no </a:t>
            </a:r>
            <a:r>
              <a:rPr sz="1800" spc="-10" dirty="0">
                <a:latin typeface="Calibri"/>
                <a:cs typeface="Calibri"/>
              </a:rPr>
              <a:t>23R25A6702</a:t>
            </a:r>
            <a:endParaRPr sz="1800" dirty="0">
              <a:latin typeface="Calibri"/>
              <a:cs typeface="Calibri"/>
            </a:endParaRPr>
          </a:p>
          <a:p>
            <a:pPr marL="8890" algn="ctr">
              <a:lnSpc>
                <a:spcPct val="100000"/>
              </a:lnSpc>
              <a:spcBef>
                <a:spcPts val="15"/>
              </a:spcBef>
            </a:pPr>
            <a:r>
              <a:rPr sz="1800" spc="-10" dirty="0">
                <a:latin typeface="Calibri"/>
                <a:cs typeface="Calibri"/>
              </a:rPr>
              <a:t>22R21a6728</a:t>
            </a:r>
            <a:endParaRPr sz="1800" dirty="0">
              <a:latin typeface="Calibri"/>
              <a:cs typeface="Calibri"/>
            </a:endParaRPr>
          </a:p>
          <a:p>
            <a:pPr marL="12700" algn="ctr">
              <a:lnSpc>
                <a:spcPct val="100000"/>
              </a:lnSpc>
              <a:spcBef>
                <a:spcPts val="20"/>
              </a:spcBef>
            </a:pPr>
            <a:r>
              <a:rPr sz="1800" spc="-10" dirty="0">
                <a:latin typeface="Calibri"/>
                <a:cs typeface="Calibri"/>
              </a:rPr>
              <a:t>22R21A6717</a:t>
            </a:r>
            <a:endParaRPr sz="1800" dirty="0">
              <a:latin typeface="Calibri"/>
              <a:cs typeface="Calibri"/>
            </a:endParaRPr>
          </a:p>
        </p:txBody>
      </p:sp>
      <p:sp>
        <p:nvSpPr>
          <p:cNvPr id="13" name="object 13"/>
          <p:cNvSpPr txBox="1"/>
          <p:nvPr/>
        </p:nvSpPr>
        <p:spPr>
          <a:xfrm>
            <a:off x="4968240" y="2967807"/>
            <a:ext cx="2077720" cy="742315"/>
          </a:xfrm>
          <a:prstGeom prst="rect">
            <a:avLst/>
          </a:prstGeom>
        </p:spPr>
        <p:txBody>
          <a:bodyPr vert="horz" wrap="square" lIns="0" tIns="96520" rIns="0" bIns="0" rtlCol="0">
            <a:spAutoFit/>
          </a:bodyPr>
          <a:lstStyle/>
          <a:p>
            <a:pPr marL="384175">
              <a:lnSpc>
                <a:spcPct val="100000"/>
              </a:lnSpc>
              <a:spcBef>
                <a:spcPts val="760"/>
              </a:spcBef>
            </a:pPr>
            <a:r>
              <a:rPr sz="1800" dirty="0">
                <a:latin typeface="Calibri"/>
                <a:cs typeface="Calibri"/>
              </a:rPr>
              <a:t>TEAM</a:t>
            </a:r>
            <a:r>
              <a:rPr sz="1800" spc="-25" dirty="0">
                <a:latin typeface="Calibri"/>
                <a:cs typeface="Calibri"/>
              </a:rPr>
              <a:t> </a:t>
            </a:r>
            <a:r>
              <a:rPr sz="1800" dirty="0">
                <a:latin typeface="Calibri"/>
                <a:cs typeface="Calibri"/>
              </a:rPr>
              <a:t>-</a:t>
            </a:r>
            <a:r>
              <a:rPr sz="1800" spc="-15" dirty="0">
                <a:latin typeface="Calibri"/>
                <a:cs typeface="Calibri"/>
              </a:rPr>
              <a:t> </a:t>
            </a:r>
            <a:r>
              <a:rPr sz="1800" spc="-25" dirty="0">
                <a:latin typeface="Calibri"/>
                <a:cs typeface="Calibri"/>
              </a:rPr>
              <a:t>12</a:t>
            </a:r>
            <a:endParaRPr sz="1800" dirty="0">
              <a:latin typeface="Calibri"/>
              <a:cs typeface="Calibri"/>
            </a:endParaRPr>
          </a:p>
          <a:p>
            <a:pPr marL="12700">
              <a:lnSpc>
                <a:spcPct val="100000"/>
              </a:lnSpc>
              <a:spcBef>
                <a:spcPts val="660"/>
              </a:spcBef>
            </a:pPr>
            <a:r>
              <a:rPr sz="1800" dirty="0">
                <a:latin typeface="Calibri"/>
                <a:cs typeface="Calibri"/>
              </a:rPr>
              <a:t>SDG</a:t>
            </a:r>
            <a:r>
              <a:rPr sz="1800" spc="-30" dirty="0">
                <a:latin typeface="Calibri"/>
                <a:cs typeface="Calibri"/>
              </a:rPr>
              <a:t> </a:t>
            </a:r>
            <a:r>
              <a:rPr sz="1800" dirty="0">
                <a:latin typeface="Calibri"/>
                <a:cs typeface="Calibri"/>
              </a:rPr>
              <a:t>GOAL</a:t>
            </a:r>
            <a:r>
              <a:rPr sz="1800" spc="-25" dirty="0">
                <a:latin typeface="Calibri"/>
                <a:cs typeface="Calibri"/>
              </a:rPr>
              <a:t> </a:t>
            </a:r>
            <a:r>
              <a:rPr sz="1800" spc="-10" dirty="0">
                <a:latin typeface="Calibri"/>
                <a:cs typeface="Calibri"/>
              </a:rPr>
              <a:t>NUMBER-</a:t>
            </a:r>
            <a:r>
              <a:rPr lang="en-IN" spc="-50" dirty="0">
                <a:latin typeface="Calibri"/>
                <a:cs typeface="Calibri"/>
              </a:rPr>
              <a:t>3</a:t>
            </a:r>
            <a:endParaRPr sz="1800" dirty="0">
              <a:latin typeface="Calibri"/>
              <a:cs typeface="Calibri"/>
            </a:endParaRPr>
          </a:p>
        </p:txBody>
      </p:sp>
      <p:sp>
        <p:nvSpPr>
          <p:cNvPr id="14" name="TextBox 13">
            <a:extLst>
              <a:ext uri="{FF2B5EF4-FFF2-40B4-BE49-F238E27FC236}">
                <a16:creationId xmlns:a16="http://schemas.microsoft.com/office/drawing/2014/main" id="{7BC264E4-6AF7-9AD7-63B0-0D380FE0851C}"/>
              </a:ext>
            </a:extLst>
          </p:cNvPr>
          <p:cNvSpPr txBox="1"/>
          <p:nvPr/>
        </p:nvSpPr>
        <p:spPr>
          <a:xfrm>
            <a:off x="2407619" y="2394701"/>
            <a:ext cx="7481535" cy="369332"/>
          </a:xfrm>
          <a:prstGeom prst="rect">
            <a:avLst/>
          </a:prstGeom>
          <a:noFill/>
        </p:spPr>
        <p:txBody>
          <a:bodyPr wrap="none" rtlCol="0">
            <a:spAutoFit/>
          </a:bodyPr>
          <a:lstStyle/>
          <a:p>
            <a:r>
              <a:rPr lang="en-US" dirty="0"/>
              <a:t>An Intelligent Conversational AI for Automated Appointment Scheduling</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8000"/>
            </a:xfrm>
            <a:prstGeom prst="rect">
              <a:avLst/>
            </a:prstGeom>
          </p:spPr>
        </p:pic>
        <p:pic>
          <p:nvPicPr>
            <p:cNvPr id="4" name="object 4"/>
            <p:cNvPicPr/>
            <p:nvPr/>
          </p:nvPicPr>
          <p:blipFill>
            <a:blip r:embed="rId3" cstate="print"/>
            <a:stretch>
              <a:fillRect/>
            </a:stretch>
          </p:blipFill>
          <p:spPr>
            <a:xfrm>
              <a:off x="0" y="0"/>
              <a:ext cx="12172950" cy="6858000"/>
            </a:xfrm>
            <a:prstGeom prst="rect">
              <a:avLst/>
            </a:prstGeom>
          </p:spPr>
        </p:pic>
        <p:pic>
          <p:nvPicPr>
            <p:cNvPr id="5" name="object 5"/>
            <p:cNvPicPr/>
            <p:nvPr/>
          </p:nvPicPr>
          <p:blipFill>
            <a:blip r:embed="rId4" cstate="print"/>
            <a:stretch>
              <a:fillRect/>
            </a:stretch>
          </p:blipFill>
          <p:spPr>
            <a:xfrm>
              <a:off x="9772650" y="161925"/>
              <a:ext cx="2181225" cy="600075"/>
            </a:xfrm>
            <a:prstGeom prst="rect">
              <a:avLst/>
            </a:prstGeom>
          </p:spPr>
        </p:pic>
      </p:grpSp>
      <p:sp>
        <p:nvSpPr>
          <p:cNvPr id="6" name="object 6"/>
          <p:cNvSpPr txBox="1">
            <a:spLocks noGrp="1"/>
          </p:cNvSpPr>
          <p:nvPr>
            <p:ph type="title"/>
          </p:nvPr>
        </p:nvSpPr>
        <p:spPr>
          <a:xfrm>
            <a:off x="746443" y="400795"/>
            <a:ext cx="2758757" cy="773159"/>
          </a:xfrm>
          <a:prstGeom prst="rect">
            <a:avLst/>
          </a:prstGeom>
        </p:spPr>
        <p:txBody>
          <a:bodyPr vert="horz" wrap="square" lIns="0" tIns="255142" rIns="0" bIns="0" rtlCol="0">
            <a:spAutoFit/>
          </a:bodyPr>
          <a:lstStyle/>
          <a:p>
            <a:pPr marL="12700">
              <a:lnSpc>
                <a:spcPct val="100000"/>
              </a:lnSpc>
              <a:spcBef>
                <a:spcPts val="130"/>
              </a:spcBef>
            </a:pPr>
            <a:r>
              <a:rPr sz="3350" b="1" spc="-10" dirty="0">
                <a:solidFill>
                  <a:srgbClr val="006FC0"/>
                </a:solidFill>
                <a:latin typeface="Times New Roman"/>
                <a:cs typeface="Times New Roman"/>
              </a:rPr>
              <a:t>Abstract</a:t>
            </a:r>
            <a:endParaRPr sz="3350" dirty="0">
              <a:latin typeface="Times New Roman"/>
              <a:cs typeface="Times New Roman"/>
            </a:endParaRPr>
          </a:p>
        </p:txBody>
      </p:sp>
      <p:sp>
        <p:nvSpPr>
          <p:cNvPr id="7" name="object 7"/>
          <p:cNvSpPr txBox="1"/>
          <p:nvPr/>
        </p:nvSpPr>
        <p:spPr>
          <a:xfrm>
            <a:off x="685800" y="1538033"/>
            <a:ext cx="10759758" cy="3446906"/>
          </a:xfrm>
          <a:prstGeom prst="rect">
            <a:avLst/>
          </a:prstGeom>
        </p:spPr>
        <p:txBody>
          <a:bodyPr vert="horz" wrap="square" lIns="0" tIns="6350" rIns="0" bIns="0" rtlCol="0">
            <a:spAutoFit/>
          </a:bodyPr>
          <a:lstStyle/>
          <a:p>
            <a:pPr marL="12700" marR="5080" algn="just">
              <a:lnSpc>
                <a:spcPct val="102400"/>
              </a:lnSpc>
              <a:spcBef>
                <a:spcPts val="50"/>
              </a:spcBef>
            </a:pPr>
            <a:r>
              <a:rPr lang="en-US" sz="2000" dirty="0"/>
              <a:t>Project Sahay is a conversational AI assistant designed for Prudence Hospitals to automate patient interactions such as booking, rescheduling, and canceling appointments via web and phone. Built on a serverless architecture using Netlify Functions, </a:t>
            </a:r>
            <a:r>
              <a:rPr lang="en-US" sz="2000" dirty="0" err="1"/>
              <a:t>Supabase</a:t>
            </a:r>
            <a:r>
              <a:rPr lang="en-US" sz="2000" dirty="0"/>
              <a:t>, and Google Gemini, it integrates natural language understanding with secure transactions to ensure reliable healthcare scheduling. Featuring voice and text communication powered by speech recognition and synthesis, Sahay’s modular design enables scalability and independent development. Through </a:t>
            </a:r>
            <a:r>
              <a:rPr lang="en-US" sz="2000" dirty="0" err="1"/>
              <a:t>Exotel</a:t>
            </a:r>
            <a:r>
              <a:rPr lang="en-US" sz="2000" dirty="0"/>
              <a:t> integration, it supports telephonic access for non-digital users, while PostgreSQL ensures data consistency and prevents booking conflicts. Overall, Sahay enhances hospital administration by reducing manual workload, improving accessibility, and delivering a faster, more efficient patient experience, with planned advancements in real-time communication and analytics.</a:t>
            </a:r>
            <a:endParaRPr sz="200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82D9A-73BE-2B27-B977-FC924B468CE7}"/>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DC9CEADA-08D6-C223-DCA8-B00386B36599}"/>
              </a:ext>
            </a:extLst>
          </p:cNvPr>
          <p:cNvGrpSpPr/>
          <p:nvPr/>
        </p:nvGrpSpPr>
        <p:grpSpPr>
          <a:xfrm>
            <a:off x="0" y="0"/>
            <a:ext cx="12192000" cy="6858000"/>
            <a:chOff x="0" y="0"/>
            <a:chExt cx="12192000" cy="6858000"/>
          </a:xfrm>
        </p:grpSpPr>
        <p:pic>
          <p:nvPicPr>
            <p:cNvPr id="3" name="object 3">
              <a:extLst>
                <a:ext uri="{FF2B5EF4-FFF2-40B4-BE49-F238E27FC236}">
                  <a16:creationId xmlns:a16="http://schemas.microsoft.com/office/drawing/2014/main" id="{4A6B307F-A6C9-A0E2-B146-22FB08862CF7}"/>
                </a:ext>
              </a:extLst>
            </p:cNvPr>
            <p:cNvPicPr/>
            <p:nvPr/>
          </p:nvPicPr>
          <p:blipFill>
            <a:blip r:embed="rId2" cstate="print"/>
            <a:stretch>
              <a:fillRect/>
            </a:stretch>
          </p:blipFill>
          <p:spPr>
            <a:xfrm>
              <a:off x="0" y="0"/>
              <a:ext cx="12192000" cy="6858000"/>
            </a:xfrm>
            <a:prstGeom prst="rect">
              <a:avLst/>
            </a:prstGeom>
          </p:spPr>
        </p:pic>
        <p:pic>
          <p:nvPicPr>
            <p:cNvPr id="4" name="object 4">
              <a:extLst>
                <a:ext uri="{FF2B5EF4-FFF2-40B4-BE49-F238E27FC236}">
                  <a16:creationId xmlns:a16="http://schemas.microsoft.com/office/drawing/2014/main" id="{686AE21A-1FD2-7C37-1151-BEA1F50F4B98}"/>
                </a:ext>
              </a:extLst>
            </p:cNvPr>
            <p:cNvPicPr/>
            <p:nvPr/>
          </p:nvPicPr>
          <p:blipFill>
            <a:blip r:embed="rId3" cstate="print"/>
            <a:stretch>
              <a:fillRect/>
            </a:stretch>
          </p:blipFill>
          <p:spPr>
            <a:xfrm>
              <a:off x="0" y="0"/>
              <a:ext cx="12172950" cy="6858000"/>
            </a:xfrm>
            <a:prstGeom prst="rect">
              <a:avLst/>
            </a:prstGeom>
          </p:spPr>
        </p:pic>
        <p:pic>
          <p:nvPicPr>
            <p:cNvPr id="5" name="object 5">
              <a:extLst>
                <a:ext uri="{FF2B5EF4-FFF2-40B4-BE49-F238E27FC236}">
                  <a16:creationId xmlns:a16="http://schemas.microsoft.com/office/drawing/2014/main" id="{65053662-6BF2-797B-0FE0-8D3F1722CB24}"/>
                </a:ext>
              </a:extLst>
            </p:cNvPr>
            <p:cNvPicPr/>
            <p:nvPr/>
          </p:nvPicPr>
          <p:blipFill>
            <a:blip r:embed="rId4" cstate="print"/>
            <a:stretch>
              <a:fillRect/>
            </a:stretch>
          </p:blipFill>
          <p:spPr>
            <a:xfrm>
              <a:off x="9772650" y="161925"/>
              <a:ext cx="2181225" cy="600075"/>
            </a:xfrm>
            <a:prstGeom prst="rect">
              <a:avLst/>
            </a:prstGeom>
          </p:spPr>
        </p:pic>
      </p:grpSp>
      <p:sp>
        <p:nvSpPr>
          <p:cNvPr id="6" name="object 6">
            <a:extLst>
              <a:ext uri="{FF2B5EF4-FFF2-40B4-BE49-F238E27FC236}">
                <a16:creationId xmlns:a16="http://schemas.microsoft.com/office/drawing/2014/main" id="{0D1D8026-06EF-191E-CB53-890789D56831}"/>
              </a:ext>
            </a:extLst>
          </p:cNvPr>
          <p:cNvSpPr txBox="1">
            <a:spLocks noGrp="1"/>
          </p:cNvSpPr>
          <p:nvPr>
            <p:ph type="title"/>
          </p:nvPr>
        </p:nvSpPr>
        <p:spPr>
          <a:xfrm>
            <a:off x="746443" y="400795"/>
            <a:ext cx="2758757" cy="773159"/>
          </a:xfrm>
          <a:prstGeom prst="rect">
            <a:avLst/>
          </a:prstGeom>
        </p:spPr>
        <p:txBody>
          <a:bodyPr vert="horz" wrap="square" lIns="0" tIns="255142" rIns="0" bIns="0" rtlCol="0">
            <a:spAutoFit/>
          </a:bodyPr>
          <a:lstStyle/>
          <a:p>
            <a:pPr marL="12700">
              <a:lnSpc>
                <a:spcPct val="100000"/>
              </a:lnSpc>
              <a:spcBef>
                <a:spcPts val="130"/>
              </a:spcBef>
            </a:pPr>
            <a:r>
              <a:rPr lang="en-IN" sz="3350" b="1" dirty="0">
                <a:latin typeface="Times New Roman"/>
                <a:cs typeface="Times New Roman"/>
              </a:rPr>
              <a:t>Objectives</a:t>
            </a:r>
            <a:endParaRPr sz="3350" b="1" dirty="0">
              <a:latin typeface="Times New Roman"/>
              <a:cs typeface="Times New Roman"/>
            </a:endParaRPr>
          </a:p>
        </p:txBody>
      </p:sp>
      <p:sp>
        <p:nvSpPr>
          <p:cNvPr id="7" name="object 7">
            <a:extLst>
              <a:ext uri="{FF2B5EF4-FFF2-40B4-BE49-F238E27FC236}">
                <a16:creationId xmlns:a16="http://schemas.microsoft.com/office/drawing/2014/main" id="{4DBD67D7-E8C0-19C5-9E5D-BC00D0801394}"/>
              </a:ext>
            </a:extLst>
          </p:cNvPr>
          <p:cNvSpPr txBox="1"/>
          <p:nvPr/>
        </p:nvSpPr>
        <p:spPr>
          <a:xfrm>
            <a:off x="685800" y="1538033"/>
            <a:ext cx="10759758" cy="3760838"/>
          </a:xfrm>
          <a:prstGeom prst="rect">
            <a:avLst/>
          </a:prstGeom>
        </p:spPr>
        <p:txBody>
          <a:bodyPr vert="horz" wrap="square" lIns="0" tIns="6350" rIns="0" bIns="0" rtlCol="0">
            <a:spAutoFit/>
          </a:bodyPr>
          <a:lstStyle/>
          <a:p>
            <a:pPr marL="12700" marR="5080" algn="just">
              <a:lnSpc>
                <a:spcPct val="102400"/>
              </a:lnSpc>
              <a:spcBef>
                <a:spcPts val="50"/>
              </a:spcBef>
            </a:pPr>
            <a:r>
              <a:rPr lang="en-US" sz="2000" dirty="0"/>
              <a:t>The main objective of this project is to create an AI assistant that helps patients easily book, reschedule, and cancel appointments through natural and user-friendly conversations. It aims to support both text-based web chat and voice-based telephony so that people of all ages can use the system comfortably. Another objective is to automate backend operations using a serverless microservice design to ensure fast responses and high reliability. The system also focuses on accurate intent recognition using a Large Language Model to understand user requests correctly. A further goal is to maintain secure and consistent data storage through an ACID-compliant database. The project aims to provide an administrative dashboard for healthcare staff to monitor appointments and system activity in real time. It also seeks to reduce manual workload and errors by automating repetitive appointment tasks. Overall, the objective is to improve efficiency, accessibility, and user satisfaction in healthcare appointment management.</a:t>
            </a:r>
            <a:endParaRPr sz="2000" dirty="0">
              <a:latin typeface="Calibri"/>
              <a:cs typeface="Calibri"/>
            </a:endParaRPr>
          </a:p>
        </p:txBody>
      </p:sp>
    </p:spTree>
    <p:extLst>
      <p:ext uri="{BB962C8B-B14F-4D97-AF65-F5344CB8AC3E}">
        <p14:creationId xmlns:p14="http://schemas.microsoft.com/office/powerpoint/2010/main" val="1033456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DB246-B313-1E6A-FBE4-0E6C2E0C9D70}"/>
              </a:ext>
            </a:extLst>
          </p:cNvPr>
          <p:cNvSpPr>
            <a:spLocks noGrp="1"/>
          </p:cNvSpPr>
          <p:nvPr>
            <p:ph type="title"/>
          </p:nvPr>
        </p:nvSpPr>
        <p:spPr>
          <a:xfrm>
            <a:off x="914400" y="457200"/>
            <a:ext cx="6375717" cy="839089"/>
          </a:xfrm>
        </p:spPr>
        <p:txBody>
          <a:bodyPr/>
          <a:lstStyle/>
          <a:p>
            <a:r>
              <a:rPr lang="en-US" b="1" dirty="0">
                <a:solidFill>
                  <a:srgbClr val="0070C0"/>
                </a:solidFill>
                <a:latin typeface="Times New Roman" panose="02020603050405020304" pitchFamily="18" charset="0"/>
                <a:cs typeface="Times New Roman" panose="02020603050405020304" pitchFamily="18" charset="0"/>
              </a:rPr>
              <a:t>Introduction</a:t>
            </a:r>
            <a:br>
              <a:rPr lang="en-IN" b="1" dirty="0">
                <a:solidFill>
                  <a:srgbClr val="0070C0"/>
                </a:solidFill>
              </a:rPr>
            </a:br>
            <a:endParaRPr lang="en-IN" dirty="0"/>
          </a:p>
        </p:txBody>
      </p:sp>
      <p:sp>
        <p:nvSpPr>
          <p:cNvPr id="3" name="Text Placeholder 2">
            <a:extLst>
              <a:ext uri="{FF2B5EF4-FFF2-40B4-BE49-F238E27FC236}">
                <a16:creationId xmlns:a16="http://schemas.microsoft.com/office/drawing/2014/main" id="{06AAA9DB-2FB4-DCDF-6F2F-63F68B66CBDB}"/>
              </a:ext>
            </a:extLst>
          </p:cNvPr>
          <p:cNvSpPr>
            <a:spLocks noGrp="1"/>
          </p:cNvSpPr>
          <p:nvPr>
            <p:ph type="body" idx="1"/>
          </p:nvPr>
        </p:nvSpPr>
        <p:spPr>
          <a:xfrm>
            <a:off x="914400" y="1582340"/>
            <a:ext cx="10114915" cy="3693319"/>
          </a:xfrm>
        </p:spPr>
        <p:txBody>
          <a:bodyPr/>
          <a:lstStyle/>
          <a:p>
            <a:pPr algn="just"/>
            <a:r>
              <a:rPr lang="en-US" sz="2400" dirty="0"/>
              <a:t>Project Sahay is an AI-powered assistant developed to simplify hospital operations and make healthcare services more accessible. It allows patients to easily book, reschedule, or cancel appointments through voice or text, either on a website or via phone calls. The system uses advanced technologies like Google Gemini for natural language understanding, </a:t>
            </a:r>
            <a:r>
              <a:rPr lang="en-US" sz="2400" dirty="0" err="1"/>
              <a:t>Supabase</a:t>
            </a:r>
            <a:r>
              <a:rPr lang="en-US" sz="2400" dirty="0"/>
              <a:t> for secure data storage, and Netlify Functions for efficient backend processing. Integrated with </a:t>
            </a:r>
            <a:r>
              <a:rPr lang="en-US" sz="2400" dirty="0" err="1"/>
              <a:t>Exotel</a:t>
            </a:r>
            <a:r>
              <a:rPr lang="en-US" sz="2400" dirty="0"/>
              <a:t> for telephony support, Sahay ensures that even non-digital users can interact with the hospital seamlessly. By automating routine tasks, it reduces staff workload, improves service speed, and helps patients receive timely medical care, ultimately creating a more efficient and patient-friendly healthcare experience.</a:t>
            </a:r>
            <a:endParaRPr lang="en-IN" sz="2400" dirty="0"/>
          </a:p>
        </p:txBody>
      </p:sp>
      <p:grpSp>
        <p:nvGrpSpPr>
          <p:cNvPr id="4" name="object 2">
            <a:extLst>
              <a:ext uri="{FF2B5EF4-FFF2-40B4-BE49-F238E27FC236}">
                <a16:creationId xmlns:a16="http://schemas.microsoft.com/office/drawing/2014/main" id="{360C4E7C-C291-6EBF-E347-838253978577}"/>
              </a:ext>
            </a:extLst>
          </p:cNvPr>
          <p:cNvGrpSpPr/>
          <p:nvPr/>
        </p:nvGrpSpPr>
        <p:grpSpPr>
          <a:xfrm>
            <a:off x="0" y="0"/>
            <a:ext cx="12192000" cy="6858000"/>
            <a:chOff x="0" y="0"/>
            <a:chExt cx="12192000" cy="6858000"/>
          </a:xfrm>
        </p:grpSpPr>
        <p:pic>
          <p:nvPicPr>
            <p:cNvPr id="5" name="object 3">
              <a:extLst>
                <a:ext uri="{FF2B5EF4-FFF2-40B4-BE49-F238E27FC236}">
                  <a16:creationId xmlns:a16="http://schemas.microsoft.com/office/drawing/2014/main" id="{D8BDD86E-20DB-8501-AFAC-077075D89B5E}"/>
                </a:ext>
              </a:extLst>
            </p:cNvPr>
            <p:cNvPicPr/>
            <p:nvPr/>
          </p:nvPicPr>
          <p:blipFill>
            <a:blip r:embed="rId2" cstate="print"/>
            <a:stretch>
              <a:fillRect/>
            </a:stretch>
          </p:blipFill>
          <p:spPr>
            <a:xfrm>
              <a:off x="0" y="0"/>
              <a:ext cx="12192000" cy="6858000"/>
            </a:xfrm>
            <a:prstGeom prst="rect">
              <a:avLst/>
            </a:prstGeom>
          </p:spPr>
        </p:pic>
        <p:pic>
          <p:nvPicPr>
            <p:cNvPr id="6" name="object 4">
              <a:extLst>
                <a:ext uri="{FF2B5EF4-FFF2-40B4-BE49-F238E27FC236}">
                  <a16:creationId xmlns:a16="http://schemas.microsoft.com/office/drawing/2014/main" id="{D1978D82-2251-B82F-6C10-2EB89392050C}"/>
                </a:ext>
              </a:extLst>
            </p:cNvPr>
            <p:cNvPicPr/>
            <p:nvPr/>
          </p:nvPicPr>
          <p:blipFill>
            <a:blip r:embed="rId3" cstate="print"/>
            <a:stretch>
              <a:fillRect/>
            </a:stretch>
          </p:blipFill>
          <p:spPr>
            <a:xfrm>
              <a:off x="0" y="0"/>
              <a:ext cx="12172950" cy="6858000"/>
            </a:xfrm>
            <a:prstGeom prst="rect">
              <a:avLst/>
            </a:prstGeom>
          </p:spPr>
        </p:pic>
        <p:pic>
          <p:nvPicPr>
            <p:cNvPr id="7" name="object 5">
              <a:extLst>
                <a:ext uri="{FF2B5EF4-FFF2-40B4-BE49-F238E27FC236}">
                  <a16:creationId xmlns:a16="http://schemas.microsoft.com/office/drawing/2014/main" id="{4BA1C1AC-D0BF-96DF-C00B-8F7DECF53208}"/>
                </a:ext>
              </a:extLst>
            </p:cNvPr>
            <p:cNvPicPr/>
            <p:nvPr/>
          </p:nvPicPr>
          <p:blipFill>
            <a:blip r:embed="rId4" cstate="print"/>
            <a:stretch>
              <a:fillRect/>
            </a:stretch>
          </p:blipFill>
          <p:spPr>
            <a:xfrm>
              <a:off x="9772650" y="161925"/>
              <a:ext cx="2181225" cy="600075"/>
            </a:xfrm>
            <a:prstGeom prst="rect">
              <a:avLst/>
            </a:prstGeom>
          </p:spPr>
        </p:pic>
      </p:grpSp>
    </p:spTree>
    <p:extLst>
      <p:ext uri="{BB962C8B-B14F-4D97-AF65-F5344CB8AC3E}">
        <p14:creationId xmlns:p14="http://schemas.microsoft.com/office/powerpoint/2010/main" val="2152616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54FD0-C2B0-BA31-3CDD-F96EFF8009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BFEB18-0923-2953-D535-0CC3B1C76195}"/>
              </a:ext>
            </a:extLst>
          </p:cNvPr>
          <p:cNvSpPr>
            <a:spLocks noGrp="1"/>
          </p:cNvSpPr>
          <p:nvPr>
            <p:ph type="title"/>
          </p:nvPr>
        </p:nvSpPr>
        <p:spPr>
          <a:xfrm>
            <a:off x="746442" y="381001"/>
            <a:ext cx="8854758" cy="762000"/>
          </a:xfrm>
        </p:spPr>
        <p:txBody>
          <a:bodyPr/>
          <a:lstStyle/>
          <a:p>
            <a:r>
              <a:rPr lang="en-US" altLang="zh-CN" b="1" dirty="0">
                <a:solidFill>
                  <a:srgbClr val="0070C0"/>
                </a:solidFill>
                <a:latin typeface="Times New Roman" panose="02020603050405020304" pitchFamily="18" charset="0"/>
              </a:rPr>
              <a:t>Literature Survey</a:t>
            </a:r>
            <a:br>
              <a:rPr lang="en-IN" altLang="en-US" dirty="0">
                <a:solidFill>
                  <a:srgbClr val="0070C0"/>
                </a:solidFill>
                <a:latin typeface="Calibri" panose="020F0502020204030204"/>
              </a:rPr>
            </a:br>
            <a:endParaRPr lang="en-IN" dirty="0"/>
          </a:p>
        </p:txBody>
      </p:sp>
      <p:sp>
        <p:nvSpPr>
          <p:cNvPr id="3" name="Text Placeholder 2">
            <a:extLst>
              <a:ext uri="{FF2B5EF4-FFF2-40B4-BE49-F238E27FC236}">
                <a16:creationId xmlns:a16="http://schemas.microsoft.com/office/drawing/2014/main" id="{8E011749-C3CD-E5D1-9B4D-762E24369F0A}"/>
              </a:ext>
            </a:extLst>
          </p:cNvPr>
          <p:cNvSpPr>
            <a:spLocks noGrp="1"/>
          </p:cNvSpPr>
          <p:nvPr>
            <p:ph type="body" idx="1"/>
          </p:nvPr>
        </p:nvSpPr>
        <p:spPr>
          <a:xfrm>
            <a:off x="716945" y="1524000"/>
            <a:ext cx="10523784" cy="4616648"/>
          </a:xfrm>
        </p:spPr>
        <p:txBody>
          <a:bodyPr/>
          <a:lstStyle/>
          <a:p>
            <a:r>
              <a:rPr lang="en-US" sz="2000" b="1" dirty="0"/>
              <a:t>1. Generative AI for Transformative Healthcare (IEEE, 2024)</a:t>
            </a:r>
          </a:p>
          <a:p>
            <a:pPr algn="l"/>
            <a:r>
              <a:rPr lang="en-US" sz="2000" b="1" dirty="0"/>
              <a:t>Reference:</a:t>
            </a:r>
            <a:r>
              <a:rPr lang="en-US" sz="2000" dirty="0"/>
              <a:t> </a:t>
            </a:r>
            <a:r>
              <a:rPr lang="en-US" sz="2000" dirty="0">
                <a:hlinkClick r:id="rId2"/>
              </a:rPr>
              <a:t>https://ieeexplore.ieee.org/iel7/6287639/10380310/10440330.pdf</a:t>
            </a:r>
            <a:br>
              <a:rPr lang="en-US" sz="2000" dirty="0"/>
            </a:br>
            <a:r>
              <a:rPr lang="en-US" sz="2000" dirty="0"/>
              <a:t>This paper explains how generative AI and conversational agents are being adopted in healthcare for appointment automation, telemedicine, and administrative workflows. It highlights multi-layered system design including voice/text interfaces, serverless middleware, telephony integration, and secure databases with transactional integrity.</a:t>
            </a:r>
          </a:p>
          <a:p>
            <a:br>
              <a:rPr lang="en-US" sz="2000" dirty="0"/>
            </a:br>
            <a:endParaRPr lang="en-US" sz="2000" dirty="0"/>
          </a:p>
          <a:p>
            <a:r>
              <a:rPr lang="en-US" sz="2000" b="1" dirty="0"/>
              <a:t>2. Leveraging Large Language Models to Power Chatbots for Healthcare (ACM, 2025)</a:t>
            </a:r>
          </a:p>
          <a:p>
            <a:pPr algn="l"/>
            <a:r>
              <a:rPr lang="en-US" sz="2000" b="1" dirty="0"/>
              <a:t>Reference:</a:t>
            </a:r>
            <a:r>
              <a:rPr lang="en-US" sz="2000" dirty="0"/>
              <a:t> </a:t>
            </a:r>
            <a:r>
              <a:rPr lang="en-US" sz="2000" dirty="0">
                <a:hlinkClick r:id="rId3"/>
              </a:rPr>
              <a:t>https://dl.acm.org/doi/10.1145/3637364</a:t>
            </a:r>
            <a:br>
              <a:rPr lang="en-US" sz="2000" dirty="0"/>
            </a:br>
            <a:r>
              <a:rPr lang="en-US" sz="2000" dirty="0"/>
              <a:t>The study explores the use of LLMs like Google Gemini to build healthcare chatbots for tasks such as appointment booking, triage, and information retrieval. It presents an architecture with a decoupled frontend (web/voice), serverless backend functions, and secure database handling with medical-grade data integrity.</a:t>
            </a:r>
          </a:p>
          <a:p>
            <a:endParaRPr lang="en-IN" sz="2000" dirty="0"/>
          </a:p>
        </p:txBody>
      </p:sp>
      <p:pic>
        <p:nvPicPr>
          <p:cNvPr id="7" name="object 5">
            <a:extLst>
              <a:ext uri="{FF2B5EF4-FFF2-40B4-BE49-F238E27FC236}">
                <a16:creationId xmlns:a16="http://schemas.microsoft.com/office/drawing/2014/main" id="{B109A3D0-89A5-C56D-6855-2CD151362B02}"/>
              </a:ext>
            </a:extLst>
          </p:cNvPr>
          <p:cNvPicPr/>
          <p:nvPr/>
        </p:nvPicPr>
        <p:blipFill>
          <a:blip r:embed="rId4" cstate="print"/>
          <a:stretch>
            <a:fillRect/>
          </a:stretch>
        </p:blipFill>
        <p:spPr>
          <a:xfrm>
            <a:off x="9772650" y="161925"/>
            <a:ext cx="2181225" cy="600075"/>
          </a:xfrm>
          <a:prstGeom prst="rect">
            <a:avLst/>
          </a:prstGeom>
        </p:spPr>
      </p:pic>
      <p:pic>
        <p:nvPicPr>
          <p:cNvPr id="15" name="object 5">
            <a:extLst>
              <a:ext uri="{FF2B5EF4-FFF2-40B4-BE49-F238E27FC236}">
                <a16:creationId xmlns:a16="http://schemas.microsoft.com/office/drawing/2014/main" id="{DED509C6-39B6-0499-4D32-0F41B0367D97}"/>
              </a:ext>
            </a:extLst>
          </p:cNvPr>
          <p:cNvPicPr/>
          <p:nvPr/>
        </p:nvPicPr>
        <p:blipFill>
          <a:blip r:embed="rId4" cstate="print"/>
          <a:stretch>
            <a:fillRect/>
          </a:stretch>
        </p:blipFill>
        <p:spPr>
          <a:xfrm>
            <a:off x="9772650" y="161925"/>
            <a:ext cx="2181225" cy="600075"/>
          </a:xfrm>
          <a:prstGeom prst="rect">
            <a:avLst/>
          </a:prstGeom>
        </p:spPr>
      </p:pic>
      <p:grpSp>
        <p:nvGrpSpPr>
          <p:cNvPr id="16" name="object 2">
            <a:extLst>
              <a:ext uri="{FF2B5EF4-FFF2-40B4-BE49-F238E27FC236}">
                <a16:creationId xmlns:a16="http://schemas.microsoft.com/office/drawing/2014/main" id="{D150EBB1-5357-3A4B-CCBD-27178B20627B}"/>
              </a:ext>
            </a:extLst>
          </p:cNvPr>
          <p:cNvGrpSpPr/>
          <p:nvPr/>
        </p:nvGrpSpPr>
        <p:grpSpPr>
          <a:xfrm>
            <a:off x="0" y="0"/>
            <a:ext cx="12192000" cy="6858000"/>
            <a:chOff x="0" y="0"/>
            <a:chExt cx="12192000" cy="6858000"/>
          </a:xfrm>
        </p:grpSpPr>
        <p:pic>
          <p:nvPicPr>
            <p:cNvPr id="17" name="object 3">
              <a:extLst>
                <a:ext uri="{FF2B5EF4-FFF2-40B4-BE49-F238E27FC236}">
                  <a16:creationId xmlns:a16="http://schemas.microsoft.com/office/drawing/2014/main" id="{469D2777-FFA6-4B35-BC73-A767E3CAE658}"/>
                </a:ext>
              </a:extLst>
            </p:cNvPr>
            <p:cNvPicPr/>
            <p:nvPr/>
          </p:nvPicPr>
          <p:blipFill>
            <a:blip r:embed="rId5" cstate="print"/>
            <a:stretch>
              <a:fillRect/>
            </a:stretch>
          </p:blipFill>
          <p:spPr>
            <a:xfrm>
              <a:off x="0" y="0"/>
              <a:ext cx="12192000" cy="6858000"/>
            </a:xfrm>
            <a:prstGeom prst="rect">
              <a:avLst/>
            </a:prstGeom>
          </p:spPr>
        </p:pic>
        <p:pic>
          <p:nvPicPr>
            <p:cNvPr id="18" name="object 4">
              <a:extLst>
                <a:ext uri="{FF2B5EF4-FFF2-40B4-BE49-F238E27FC236}">
                  <a16:creationId xmlns:a16="http://schemas.microsoft.com/office/drawing/2014/main" id="{DE8739E4-2D3A-D983-6C00-1521C4A6C870}"/>
                </a:ext>
              </a:extLst>
            </p:cNvPr>
            <p:cNvPicPr/>
            <p:nvPr/>
          </p:nvPicPr>
          <p:blipFill>
            <a:blip r:embed="rId6" cstate="print"/>
            <a:stretch>
              <a:fillRect/>
            </a:stretch>
          </p:blipFill>
          <p:spPr>
            <a:xfrm>
              <a:off x="0" y="0"/>
              <a:ext cx="12172950" cy="6858000"/>
            </a:xfrm>
            <a:prstGeom prst="rect">
              <a:avLst/>
            </a:prstGeom>
          </p:spPr>
        </p:pic>
        <p:pic>
          <p:nvPicPr>
            <p:cNvPr id="19" name="object 5">
              <a:extLst>
                <a:ext uri="{FF2B5EF4-FFF2-40B4-BE49-F238E27FC236}">
                  <a16:creationId xmlns:a16="http://schemas.microsoft.com/office/drawing/2014/main" id="{D82359C4-2593-66C0-7359-1B88429BB766}"/>
                </a:ext>
              </a:extLst>
            </p:cNvPr>
            <p:cNvPicPr/>
            <p:nvPr/>
          </p:nvPicPr>
          <p:blipFill>
            <a:blip r:embed="rId4" cstate="print"/>
            <a:stretch>
              <a:fillRect/>
            </a:stretch>
          </p:blipFill>
          <p:spPr>
            <a:xfrm>
              <a:off x="9772650" y="161925"/>
              <a:ext cx="2181225" cy="600075"/>
            </a:xfrm>
            <a:prstGeom prst="rect">
              <a:avLst/>
            </a:prstGeom>
          </p:spPr>
        </p:pic>
      </p:grpSp>
    </p:spTree>
    <p:extLst>
      <p:ext uri="{BB962C8B-B14F-4D97-AF65-F5344CB8AC3E}">
        <p14:creationId xmlns:p14="http://schemas.microsoft.com/office/powerpoint/2010/main" val="2987786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FB1D4-A26D-8AD4-32FC-EB2D27E84C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5B56A8-F84C-1C70-472C-1F7807AB8B45}"/>
              </a:ext>
            </a:extLst>
          </p:cNvPr>
          <p:cNvSpPr>
            <a:spLocks noGrp="1"/>
          </p:cNvSpPr>
          <p:nvPr>
            <p:ph type="title"/>
          </p:nvPr>
        </p:nvSpPr>
        <p:spPr>
          <a:xfrm>
            <a:off x="746442" y="381001"/>
            <a:ext cx="8854758" cy="685799"/>
          </a:xfrm>
        </p:spPr>
        <p:txBody>
          <a:bodyPr/>
          <a:lstStyle/>
          <a:p>
            <a:r>
              <a:rPr lang="en-US" altLang="zh-CN" b="1" dirty="0">
                <a:solidFill>
                  <a:srgbClr val="0070C0"/>
                </a:solidFill>
                <a:latin typeface="Times New Roman" panose="02020603050405020304" pitchFamily="18" charset="0"/>
              </a:rPr>
              <a:t>Literature Survey</a:t>
            </a:r>
            <a:br>
              <a:rPr lang="en-US" altLang="zh-CN" b="1" dirty="0">
                <a:solidFill>
                  <a:srgbClr val="0070C0"/>
                </a:solidFill>
                <a:latin typeface="Times New Roman" panose="02020603050405020304" pitchFamily="18" charset="0"/>
              </a:rPr>
            </a:br>
            <a:br>
              <a:rPr lang="en-IN" altLang="en-US" dirty="0">
                <a:solidFill>
                  <a:srgbClr val="0070C0"/>
                </a:solidFill>
                <a:latin typeface="Calibri" panose="020F0502020204030204"/>
              </a:rPr>
            </a:br>
            <a:endParaRPr lang="en-IN" dirty="0"/>
          </a:p>
        </p:txBody>
      </p:sp>
      <p:sp>
        <p:nvSpPr>
          <p:cNvPr id="3" name="Text Placeholder 2">
            <a:extLst>
              <a:ext uri="{FF2B5EF4-FFF2-40B4-BE49-F238E27FC236}">
                <a16:creationId xmlns:a16="http://schemas.microsoft.com/office/drawing/2014/main" id="{5DD437B7-37E5-C9DD-BC51-471E37658CCA}"/>
              </a:ext>
            </a:extLst>
          </p:cNvPr>
          <p:cNvSpPr>
            <a:spLocks noGrp="1"/>
          </p:cNvSpPr>
          <p:nvPr>
            <p:ph type="body" idx="1"/>
          </p:nvPr>
        </p:nvSpPr>
        <p:spPr>
          <a:xfrm>
            <a:off x="746442" y="1371600"/>
            <a:ext cx="10759758" cy="5029200"/>
          </a:xfrm>
        </p:spPr>
        <p:txBody>
          <a:bodyPr/>
          <a:lstStyle/>
          <a:p>
            <a:r>
              <a:rPr lang="en-US" sz="2000" b="1" dirty="0"/>
              <a:t>3. AI Health Assistant Project (2025)</a:t>
            </a:r>
          </a:p>
          <a:p>
            <a:r>
              <a:rPr lang="en-US" sz="2000" b="1" dirty="0"/>
              <a:t>Reference:</a:t>
            </a:r>
            <a:r>
              <a:rPr lang="en-US" sz="2000" dirty="0"/>
              <a:t> </a:t>
            </a:r>
            <a:r>
              <a:rPr lang="en-US" sz="2000" dirty="0">
                <a:hlinkClick r:id="rId2"/>
              </a:rPr>
              <a:t>https://www.scribd.com/document/828419263/AI-HEALTH-ASSISTANT-PROJECT-BY-TUSHAR-BISANE-2025</a:t>
            </a:r>
            <a:br>
              <a:rPr lang="en-US" sz="2000" dirty="0"/>
            </a:br>
            <a:r>
              <a:rPr lang="en-US" sz="2000" dirty="0"/>
              <a:t>An AI assistant supporting voice and text interactions through NLP chatbots and modular backend APIs. Includes encrypted data handling and a real-time hospital dashboard for appointment monitoring.</a:t>
            </a:r>
          </a:p>
          <a:p>
            <a:br>
              <a:rPr lang="en-US" sz="2000" dirty="0"/>
            </a:br>
            <a:r>
              <a:rPr lang="en-US" sz="2000" b="1" dirty="0"/>
              <a:t>4. Conversational Medical AI: Ready for Practice (</a:t>
            </a:r>
            <a:r>
              <a:rPr lang="en-US" sz="2000" b="1" dirty="0" err="1"/>
              <a:t>arXiv</a:t>
            </a:r>
            <a:r>
              <a:rPr lang="en-US" sz="2000" b="1" dirty="0"/>
              <a:t>, 2024)</a:t>
            </a:r>
          </a:p>
          <a:p>
            <a:r>
              <a:rPr lang="en-US" sz="2000" b="1" dirty="0"/>
              <a:t>Reference:</a:t>
            </a:r>
            <a:r>
              <a:rPr lang="en-US" sz="2000" dirty="0"/>
              <a:t> </a:t>
            </a:r>
            <a:r>
              <a:rPr lang="en-US" sz="2000" dirty="0">
                <a:hlinkClick r:id="rId3"/>
              </a:rPr>
              <a:t>https://arxiv.org/abs/2411.12808</a:t>
            </a:r>
            <a:br>
              <a:rPr lang="en-US" sz="2000" dirty="0"/>
            </a:br>
            <a:r>
              <a:rPr lang="en-US" sz="2000" dirty="0"/>
              <a:t>Describes real-world deployment of clinician-supervised LLM agents integrated with chat interfaces and microservices. Focuses on multi-turn dialogue, appointment execution, and monitoring dashboards.</a:t>
            </a:r>
          </a:p>
          <a:p>
            <a:br>
              <a:rPr lang="en-US" sz="2000" dirty="0"/>
            </a:br>
            <a:r>
              <a:rPr lang="en-US" sz="2000" b="1" dirty="0"/>
              <a:t>5. AI-Based Conversational Agents for Chronic Diseases (JMIR, 2020)</a:t>
            </a:r>
          </a:p>
          <a:p>
            <a:r>
              <a:rPr lang="en-US" sz="2000" b="1" dirty="0"/>
              <a:t>Reference:</a:t>
            </a:r>
            <a:r>
              <a:rPr lang="en-US" sz="2000" dirty="0"/>
              <a:t> </a:t>
            </a:r>
            <a:r>
              <a:rPr lang="en-US" sz="2000" dirty="0">
                <a:hlinkClick r:id="rId4"/>
              </a:rPr>
              <a:t>https://www.jmir.org/2020/9/e20701/</a:t>
            </a:r>
            <a:br>
              <a:rPr lang="en-US" sz="2000" dirty="0"/>
            </a:br>
            <a:r>
              <a:rPr lang="en-US" sz="2000" dirty="0"/>
              <a:t>A systematic review highlighting NLP-based conversational systems with multimodal interfaces. Emphasizes secure backends, interoperability, and real-time communication for chronic disease support.</a:t>
            </a:r>
          </a:p>
          <a:p>
            <a:endParaRPr lang="en-IN" sz="2000" dirty="0"/>
          </a:p>
        </p:txBody>
      </p:sp>
      <p:grpSp>
        <p:nvGrpSpPr>
          <p:cNvPr id="10" name="object 2">
            <a:extLst>
              <a:ext uri="{FF2B5EF4-FFF2-40B4-BE49-F238E27FC236}">
                <a16:creationId xmlns:a16="http://schemas.microsoft.com/office/drawing/2014/main" id="{7E0FA9EA-B535-302F-4E0C-D34DF395C0F5}"/>
              </a:ext>
            </a:extLst>
          </p:cNvPr>
          <p:cNvGrpSpPr/>
          <p:nvPr/>
        </p:nvGrpSpPr>
        <p:grpSpPr>
          <a:xfrm>
            <a:off x="0" y="0"/>
            <a:ext cx="12192000" cy="6858000"/>
            <a:chOff x="0" y="0"/>
            <a:chExt cx="12192000" cy="6858000"/>
          </a:xfrm>
        </p:grpSpPr>
        <p:pic>
          <p:nvPicPr>
            <p:cNvPr id="11" name="object 3">
              <a:extLst>
                <a:ext uri="{FF2B5EF4-FFF2-40B4-BE49-F238E27FC236}">
                  <a16:creationId xmlns:a16="http://schemas.microsoft.com/office/drawing/2014/main" id="{5479BE69-314D-70C0-F474-DCC6CCDD9A76}"/>
                </a:ext>
              </a:extLst>
            </p:cNvPr>
            <p:cNvPicPr/>
            <p:nvPr/>
          </p:nvPicPr>
          <p:blipFill>
            <a:blip r:embed="rId5" cstate="print"/>
            <a:stretch>
              <a:fillRect/>
            </a:stretch>
          </p:blipFill>
          <p:spPr>
            <a:xfrm>
              <a:off x="0" y="0"/>
              <a:ext cx="12192000" cy="6858000"/>
            </a:xfrm>
            <a:prstGeom prst="rect">
              <a:avLst/>
            </a:prstGeom>
          </p:spPr>
        </p:pic>
        <p:pic>
          <p:nvPicPr>
            <p:cNvPr id="12" name="object 4">
              <a:extLst>
                <a:ext uri="{FF2B5EF4-FFF2-40B4-BE49-F238E27FC236}">
                  <a16:creationId xmlns:a16="http://schemas.microsoft.com/office/drawing/2014/main" id="{D4131C46-291C-43EF-FCE4-7785946E6D69}"/>
                </a:ext>
              </a:extLst>
            </p:cNvPr>
            <p:cNvPicPr/>
            <p:nvPr/>
          </p:nvPicPr>
          <p:blipFill>
            <a:blip r:embed="rId6" cstate="print"/>
            <a:stretch>
              <a:fillRect/>
            </a:stretch>
          </p:blipFill>
          <p:spPr>
            <a:xfrm>
              <a:off x="0" y="0"/>
              <a:ext cx="12172950" cy="6858000"/>
            </a:xfrm>
            <a:prstGeom prst="rect">
              <a:avLst/>
            </a:prstGeom>
          </p:spPr>
        </p:pic>
        <p:pic>
          <p:nvPicPr>
            <p:cNvPr id="13" name="object 5">
              <a:extLst>
                <a:ext uri="{FF2B5EF4-FFF2-40B4-BE49-F238E27FC236}">
                  <a16:creationId xmlns:a16="http://schemas.microsoft.com/office/drawing/2014/main" id="{822C029B-EFAD-13F6-EFA9-31EEADDF4F17}"/>
                </a:ext>
              </a:extLst>
            </p:cNvPr>
            <p:cNvPicPr/>
            <p:nvPr/>
          </p:nvPicPr>
          <p:blipFill>
            <a:blip r:embed="rId7" cstate="print"/>
            <a:stretch>
              <a:fillRect/>
            </a:stretch>
          </p:blipFill>
          <p:spPr>
            <a:xfrm>
              <a:off x="9772650" y="161925"/>
              <a:ext cx="2181225" cy="600075"/>
            </a:xfrm>
            <a:prstGeom prst="rect">
              <a:avLst/>
            </a:prstGeom>
          </p:spPr>
        </p:pic>
      </p:grpSp>
    </p:spTree>
    <p:extLst>
      <p:ext uri="{BB962C8B-B14F-4D97-AF65-F5344CB8AC3E}">
        <p14:creationId xmlns:p14="http://schemas.microsoft.com/office/powerpoint/2010/main" val="1874762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6DC4A-6543-8262-DCB9-EB44AFD781D2}"/>
              </a:ext>
            </a:extLst>
          </p:cNvPr>
          <p:cNvSpPr>
            <a:spLocks noGrp="1"/>
          </p:cNvSpPr>
          <p:nvPr>
            <p:ph type="title"/>
          </p:nvPr>
        </p:nvSpPr>
        <p:spPr>
          <a:xfrm>
            <a:off x="746442" y="227711"/>
            <a:ext cx="9616758" cy="686689"/>
          </a:xfrm>
        </p:spPr>
        <p:txBody>
          <a:bodyPr/>
          <a:lstStyle/>
          <a:p>
            <a:r>
              <a:rPr lang="en-US" altLang="zh-CN" sz="3600" b="1" dirty="0">
                <a:solidFill>
                  <a:srgbClr val="0070C0"/>
                </a:solidFill>
                <a:latin typeface="Times New Roman" panose="02020603050405020304" pitchFamily="18" charset="0"/>
              </a:rPr>
              <a:t>Literature Survey Summary Table</a:t>
            </a:r>
            <a:br>
              <a:rPr lang="en-IN" altLang="en-US" sz="3600" dirty="0">
                <a:solidFill>
                  <a:srgbClr val="0070C0"/>
                </a:solidFill>
                <a:latin typeface="Calibri" panose="020F0502020204030204"/>
              </a:rPr>
            </a:br>
            <a:endParaRPr lang="en-IN" sz="3600" dirty="0"/>
          </a:p>
        </p:txBody>
      </p:sp>
      <p:graphicFrame>
        <p:nvGraphicFramePr>
          <p:cNvPr id="5" name="Table 4">
            <a:extLst>
              <a:ext uri="{FF2B5EF4-FFF2-40B4-BE49-F238E27FC236}">
                <a16:creationId xmlns:a16="http://schemas.microsoft.com/office/drawing/2014/main" id="{8E046076-0CCA-674C-614B-1CB896CBF914}"/>
              </a:ext>
            </a:extLst>
          </p:cNvPr>
          <p:cNvGraphicFramePr>
            <a:graphicFrameLocks noGrp="1"/>
          </p:cNvGraphicFramePr>
          <p:nvPr>
            <p:extLst>
              <p:ext uri="{D42A27DB-BD31-4B8C-83A1-F6EECF244321}">
                <p14:modId xmlns:p14="http://schemas.microsoft.com/office/powerpoint/2010/main" val="3614013917"/>
              </p:ext>
            </p:extLst>
          </p:nvPr>
        </p:nvGraphicFramePr>
        <p:xfrm>
          <a:off x="746442" y="990600"/>
          <a:ext cx="10912157" cy="5464772"/>
        </p:xfrm>
        <a:graphic>
          <a:graphicData uri="http://schemas.openxmlformats.org/drawingml/2006/table">
            <a:tbl>
              <a:tblPr firstRow="1" bandRow="1">
                <a:tableStyleId>{7DF18680-E054-41AD-8BC1-D1AEF772440D}</a:tableStyleId>
              </a:tblPr>
              <a:tblGrid>
                <a:gridCol w="672469">
                  <a:extLst>
                    <a:ext uri="{9D8B030D-6E8A-4147-A177-3AD203B41FA5}">
                      <a16:colId xmlns:a16="http://schemas.microsoft.com/office/drawing/2014/main" val="20000"/>
                    </a:ext>
                  </a:extLst>
                </a:gridCol>
                <a:gridCol w="2054614">
                  <a:extLst>
                    <a:ext uri="{9D8B030D-6E8A-4147-A177-3AD203B41FA5}">
                      <a16:colId xmlns:a16="http://schemas.microsoft.com/office/drawing/2014/main" val="20001"/>
                    </a:ext>
                  </a:extLst>
                </a:gridCol>
                <a:gridCol w="3062614">
                  <a:extLst>
                    <a:ext uri="{9D8B030D-6E8A-4147-A177-3AD203B41FA5}">
                      <a16:colId xmlns:a16="http://schemas.microsoft.com/office/drawing/2014/main" val="20002"/>
                    </a:ext>
                  </a:extLst>
                </a:gridCol>
                <a:gridCol w="2517218">
                  <a:extLst>
                    <a:ext uri="{9D8B030D-6E8A-4147-A177-3AD203B41FA5}">
                      <a16:colId xmlns:a16="http://schemas.microsoft.com/office/drawing/2014/main" val="20003"/>
                    </a:ext>
                  </a:extLst>
                </a:gridCol>
                <a:gridCol w="2605242">
                  <a:extLst>
                    <a:ext uri="{9D8B030D-6E8A-4147-A177-3AD203B41FA5}">
                      <a16:colId xmlns:a16="http://schemas.microsoft.com/office/drawing/2014/main" val="20004"/>
                    </a:ext>
                  </a:extLst>
                </a:gridCol>
              </a:tblGrid>
              <a:tr h="611149">
                <a:tc>
                  <a:txBody>
                    <a:bodyPr/>
                    <a:lstStyle/>
                    <a:p>
                      <a:pPr algn="ctr">
                        <a:lnSpc>
                          <a:spcPct val="200000"/>
                        </a:lnSpc>
                      </a:pPr>
                      <a:r>
                        <a:rPr lang="en-IN" dirty="0"/>
                        <a:t>S.no.</a:t>
                      </a:r>
                    </a:p>
                  </a:txBody>
                  <a:tcPr/>
                </a:tc>
                <a:tc>
                  <a:txBody>
                    <a:bodyPr/>
                    <a:lstStyle/>
                    <a:p>
                      <a:pPr algn="ctr">
                        <a:lnSpc>
                          <a:spcPct val="200000"/>
                        </a:lnSpc>
                      </a:pPr>
                      <a:r>
                        <a:rPr lang="en-IN" sz="2000" dirty="0"/>
                        <a:t>TITLE</a:t>
                      </a:r>
                      <a:endParaRPr lang="en-IN" dirty="0"/>
                    </a:p>
                  </a:txBody>
                  <a:tcPr/>
                </a:tc>
                <a:tc>
                  <a:txBody>
                    <a:bodyPr/>
                    <a:lstStyle/>
                    <a:p>
                      <a:pPr algn="ctr">
                        <a:lnSpc>
                          <a:spcPct val="200000"/>
                        </a:lnSpc>
                      </a:pPr>
                      <a:r>
                        <a:rPr lang="en-IN" sz="2000" dirty="0"/>
                        <a:t>METHODOLOGY</a:t>
                      </a:r>
                      <a:endParaRPr lang="en-IN" dirty="0"/>
                    </a:p>
                  </a:txBody>
                  <a:tcPr/>
                </a:tc>
                <a:tc>
                  <a:txBody>
                    <a:bodyPr/>
                    <a:lstStyle/>
                    <a:p>
                      <a:pPr algn="ctr">
                        <a:lnSpc>
                          <a:spcPct val="200000"/>
                        </a:lnSpc>
                      </a:pPr>
                      <a:r>
                        <a:rPr lang="en-IN" sz="2000" dirty="0"/>
                        <a:t>ADVANTAGES</a:t>
                      </a:r>
                      <a:endParaRPr lang="en-IN" dirty="0"/>
                    </a:p>
                  </a:txBody>
                  <a:tcPr/>
                </a:tc>
                <a:tc>
                  <a:txBody>
                    <a:bodyPr/>
                    <a:lstStyle/>
                    <a:p>
                      <a:pPr algn="ctr">
                        <a:lnSpc>
                          <a:spcPct val="200000"/>
                        </a:lnSpc>
                      </a:pPr>
                      <a:r>
                        <a:rPr lang="en-IN" sz="2000" dirty="0"/>
                        <a:t>DISADVANTAGES</a:t>
                      </a:r>
                    </a:p>
                  </a:txBody>
                  <a:tcPr/>
                </a:tc>
                <a:extLst>
                  <a:ext uri="{0D108BD9-81ED-4DB2-BD59-A6C34878D82A}">
                    <a16:rowId xmlns:a16="http://schemas.microsoft.com/office/drawing/2014/main" val="10000"/>
                  </a:ext>
                </a:extLst>
              </a:tr>
              <a:tr h="901719">
                <a:tc>
                  <a:txBody>
                    <a:bodyPr/>
                    <a:lstStyle/>
                    <a:p>
                      <a:pPr lvl="0" algn="ctr">
                        <a:lnSpc>
                          <a:spcPct val="200000"/>
                        </a:lnSpc>
                      </a:pPr>
                      <a:r>
                        <a:rPr lang="en-IN" sz="1700" dirty="0"/>
                        <a:t>1.</a:t>
                      </a:r>
                    </a:p>
                  </a:txBody>
                  <a:tcPr/>
                </a:tc>
                <a:tc>
                  <a:txBody>
                    <a:bodyPr/>
                    <a:lstStyle/>
                    <a:p>
                      <a:pPr fontAlgn="base" latinLnBrk="0">
                        <a:buNone/>
                      </a:pPr>
                      <a:br>
                        <a:rPr lang="en-IN" dirty="0">
                          <a:effectLst/>
                        </a:rPr>
                      </a:br>
                      <a:r>
                        <a:rPr lang="en-IN" dirty="0">
                          <a:effectLst/>
                        </a:rPr>
                        <a:t>LLM Chatbots for Healthcare ​</a:t>
                      </a:r>
                    </a:p>
                  </a:txBody>
                  <a:tcPr marL="60960" marR="60960" anchor="ctr"/>
                </a:tc>
                <a:tc>
                  <a:txBody>
                    <a:bodyPr/>
                    <a:lstStyle/>
                    <a:p>
                      <a:pPr lvl="0" algn="l" fontAlgn="base">
                        <a:lnSpc>
                          <a:spcPct val="100000"/>
                        </a:lnSpc>
                        <a:buNone/>
                      </a:pPr>
                      <a:r>
                        <a:rPr lang="en-US" sz="1800" b="0" i="0" kern="1200" dirty="0">
                          <a:solidFill>
                            <a:schemeClr val="dk1"/>
                          </a:solidFill>
                          <a:effectLst/>
                          <a:latin typeface="+mn-lt"/>
                          <a:ea typeface="+mn-ea"/>
                          <a:cs typeface="+mn-cs"/>
                        </a:rPr>
                        <a:t>AI chatbot, serverless backend, web/phone</a:t>
                      </a:r>
                      <a:endParaRPr lang="en-IN" sz="1700" dirty="0">
                        <a:effectLst/>
                      </a:endParaRPr>
                    </a:p>
                  </a:txBody>
                  <a:tcPr anchor="ctr"/>
                </a:tc>
                <a:tc>
                  <a:txBody>
                    <a:bodyPr/>
                    <a:lstStyle/>
                    <a:p>
                      <a:pPr lvl="0" algn="l" fontAlgn="base">
                        <a:lnSpc>
                          <a:spcPct val="100000"/>
                        </a:lnSpc>
                        <a:buNone/>
                      </a:pPr>
                      <a:r>
                        <a:rPr lang="en-IN" sz="1800" b="0" i="0" kern="1200" dirty="0">
                          <a:solidFill>
                            <a:schemeClr val="dk1"/>
                          </a:solidFill>
                          <a:effectLst/>
                          <a:latin typeface="+mn-lt"/>
                          <a:ea typeface="+mn-ea"/>
                          <a:cs typeface="+mn-cs"/>
                        </a:rPr>
                        <a:t>Scalable, multi-channel, efficient</a:t>
                      </a:r>
                      <a:endParaRPr lang="en-IN" sz="1700" dirty="0">
                        <a:effectLst/>
                      </a:endParaRPr>
                    </a:p>
                  </a:txBody>
                  <a:tcPr anchor="ctr"/>
                </a:tc>
                <a:tc>
                  <a:txBody>
                    <a:bodyPr/>
                    <a:lstStyle/>
                    <a:p>
                      <a:pPr lvl="0" algn="l" fontAlgn="base">
                        <a:lnSpc>
                          <a:spcPct val="100000"/>
                        </a:lnSpc>
                        <a:buNone/>
                      </a:pPr>
                      <a:r>
                        <a:rPr lang="en-US" sz="1800" b="0" i="0" kern="1200" dirty="0">
                          <a:solidFill>
                            <a:schemeClr val="dk1"/>
                          </a:solidFill>
                          <a:effectLst/>
                          <a:latin typeface="+mn-lt"/>
                          <a:ea typeface="+mn-ea"/>
                          <a:cs typeface="+mn-cs"/>
                        </a:rPr>
                        <a:t>Needs secure setup, evolving AI</a:t>
                      </a:r>
                      <a:endParaRPr lang="en-IN" sz="1700" dirty="0">
                        <a:effectLst/>
                      </a:endParaRPr>
                    </a:p>
                  </a:txBody>
                  <a:tcPr anchor="ctr"/>
                </a:tc>
                <a:extLst>
                  <a:ext uri="{0D108BD9-81ED-4DB2-BD59-A6C34878D82A}">
                    <a16:rowId xmlns:a16="http://schemas.microsoft.com/office/drawing/2014/main" val="10001"/>
                  </a:ext>
                </a:extLst>
              </a:tr>
              <a:tr h="901719">
                <a:tc>
                  <a:txBody>
                    <a:bodyPr/>
                    <a:lstStyle/>
                    <a:p>
                      <a:pPr lvl="0" algn="ctr">
                        <a:lnSpc>
                          <a:spcPct val="200000"/>
                        </a:lnSpc>
                      </a:pPr>
                      <a:r>
                        <a:rPr lang="en-IN" sz="1700" dirty="0"/>
                        <a:t>2.</a:t>
                      </a:r>
                    </a:p>
                  </a:txBody>
                  <a:tcPr/>
                </a:tc>
                <a:tc>
                  <a:txBody>
                    <a:bodyPr/>
                    <a:lstStyle/>
                    <a:p>
                      <a:pPr fontAlgn="base" latinLnBrk="0">
                        <a:buNone/>
                      </a:pPr>
                      <a:br>
                        <a:rPr lang="en-IN" dirty="0">
                          <a:effectLst/>
                        </a:rPr>
                      </a:br>
                      <a:r>
                        <a:rPr lang="en-IN" dirty="0">
                          <a:effectLst/>
                        </a:rPr>
                        <a:t>Generative AI in Healthcare </a:t>
                      </a:r>
                    </a:p>
                  </a:txBody>
                  <a:tcPr marL="60960" marR="60960" anchor="ctr"/>
                </a:tc>
                <a:tc>
                  <a:txBody>
                    <a:bodyPr/>
                    <a:lstStyle/>
                    <a:p>
                      <a:pPr lvl="0" algn="l" fontAlgn="base">
                        <a:lnSpc>
                          <a:spcPct val="100000"/>
                        </a:lnSpc>
                        <a:buNone/>
                      </a:pPr>
                      <a:r>
                        <a:rPr lang="en-US" sz="1800" b="0" i="0" kern="1200" dirty="0">
                          <a:solidFill>
                            <a:schemeClr val="dk1"/>
                          </a:solidFill>
                          <a:effectLst/>
                          <a:latin typeface="+mn-lt"/>
                          <a:ea typeface="+mn-ea"/>
                          <a:cs typeface="+mn-cs"/>
                        </a:rPr>
                        <a:t>Voice/text AI, serverless, telephony, dashboard</a:t>
                      </a:r>
                      <a:endParaRPr lang="en-US" sz="1700" dirty="0">
                        <a:effectLst/>
                      </a:endParaRPr>
                    </a:p>
                  </a:txBody>
                  <a:tcPr anchor="ctr"/>
                </a:tc>
                <a:tc>
                  <a:txBody>
                    <a:bodyPr/>
                    <a:lstStyle/>
                    <a:p>
                      <a:pPr lvl="0" algn="l" fontAlgn="base">
                        <a:lnSpc>
                          <a:spcPct val="100000"/>
                        </a:lnSpc>
                        <a:buNone/>
                      </a:pPr>
                      <a:r>
                        <a:rPr lang="en-IN" sz="1800" b="0" i="0" kern="1200" dirty="0">
                          <a:solidFill>
                            <a:schemeClr val="dk1"/>
                          </a:solidFill>
                          <a:effectLst/>
                          <a:latin typeface="+mn-lt"/>
                          <a:ea typeface="+mn-ea"/>
                          <a:cs typeface="+mn-cs"/>
                        </a:rPr>
                        <a:t>Real-time, efficient</a:t>
                      </a:r>
                      <a:endParaRPr lang="en-IN" sz="1700" dirty="0">
                        <a:effectLst/>
                      </a:endParaRPr>
                    </a:p>
                  </a:txBody>
                  <a:tcPr anchor="ctr"/>
                </a:tc>
                <a:tc>
                  <a:txBody>
                    <a:bodyPr/>
                    <a:lstStyle/>
                    <a:p>
                      <a:pPr lvl="0" algn="l" fontAlgn="base">
                        <a:lnSpc>
                          <a:spcPct val="100000"/>
                        </a:lnSpc>
                        <a:buNone/>
                      </a:pPr>
                      <a:r>
                        <a:rPr lang="en-IN" sz="1800" b="0" i="0" kern="1200" dirty="0">
                          <a:solidFill>
                            <a:schemeClr val="dk1"/>
                          </a:solidFill>
                          <a:effectLst/>
                          <a:latin typeface="+mn-lt"/>
                          <a:ea typeface="+mn-ea"/>
                          <a:cs typeface="+mn-cs"/>
                        </a:rPr>
                        <a:t>Setup, monitoring, privacy</a:t>
                      </a:r>
                      <a:endParaRPr lang="en-US" sz="1700" dirty="0">
                        <a:effectLst/>
                      </a:endParaRPr>
                    </a:p>
                  </a:txBody>
                  <a:tcPr anchor="ctr"/>
                </a:tc>
                <a:extLst>
                  <a:ext uri="{0D108BD9-81ED-4DB2-BD59-A6C34878D82A}">
                    <a16:rowId xmlns:a16="http://schemas.microsoft.com/office/drawing/2014/main" val="10002"/>
                  </a:ext>
                </a:extLst>
              </a:tr>
              <a:tr h="836579">
                <a:tc>
                  <a:txBody>
                    <a:bodyPr/>
                    <a:lstStyle/>
                    <a:p>
                      <a:pPr lvl="0" algn="ctr">
                        <a:lnSpc>
                          <a:spcPct val="200000"/>
                        </a:lnSpc>
                      </a:pPr>
                      <a:r>
                        <a:rPr lang="en-IN" sz="1700" dirty="0"/>
                        <a:t>3.</a:t>
                      </a:r>
                    </a:p>
                  </a:txBody>
                  <a:tcPr/>
                </a:tc>
                <a:tc>
                  <a:txBody>
                    <a:bodyPr/>
                    <a:lstStyle/>
                    <a:p>
                      <a:pPr lvl="0" algn="l" fontAlgn="base">
                        <a:lnSpc>
                          <a:spcPct val="100000"/>
                        </a:lnSpc>
                        <a:buNone/>
                      </a:pPr>
                      <a:r>
                        <a:rPr lang="en-IN" sz="1800" b="0" i="0" kern="1200" dirty="0">
                          <a:solidFill>
                            <a:schemeClr val="dk1"/>
                          </a:solidFill>
                          <a:effectLst/>
                          <a:latin typeface="+mn-lt"/>
                          <a:ea typeface="+mn-ea"/>
                          <a:cs typeface="+mn-cs"/>
                        </a:rPr>
                        <a:t>AI Health Assistant Project </a:t>
                      </a:r>
                      <a:endParaRPr lang="en-IN" sz="1700" dirty="0">
                        <a:effectLst/>
                      </a:endParaRPr>
                    </a:p>
                  </a:txBody>
                  <a:tcPr anchor="ctr"/>
                </a:tc>
                <a:tc>
                  <a:txBody>
                    <a:bodyPr/>
                    <a:lstStyle/>
                    <a:p>
                      <a:pPr lvl="0" algn="l" fontAlgn="base">
                        <a:lnSpc>
                          <a:spcPct val="100000"/>
                        </a:lnSpc>
                        <a:buNone/>
                      </a:pPr>
                      <a:r>
                        <a:rPr lang="en-US" sz="1800" b="0" i="0" kern="1200" dirty="0">
                          <a:solidFill>
                            <a:schemeClr val="dk1"/>
                          </a:solidFill>
                          <a:effectLst/>
                          <a:latin typeface="+mn-lt"/>
                          <a:ea typeface="+mn-ea"/>
                          <a:cs typeface="+mn-cs"/>
                        </a:rPr>
                        <a:t>Modular NLP backend, telephony, dashboard</a:t>
                      </a:r>
                      <a:endParaRPr lang="en-IN" sz="1700" dirty="0">
                        <a:effectLst/>
                      </a:endParaRPr>
                    </a:p>
                  </a:txBody>
                  <a:tcPr anchor="ctr"/>
                </a:tc>
                <a:tc>
                  <a:txBody>
                    <a:bodyPr/>
                    <a:lstStyle/>
                    <a:p>
                      <a:pPr lvl="0" algn="l" fontAlgn="base">
                        <a:lnSpc>
                          <a:spcPct val="100000"/>
                        </a:lnSpc>
                        <a:buNone/>
                      </a:pPr>
                      <a:r>
                        <a:rPr lang="en-IN" sz="1800" b="0" i="0" kern="1200" dirty="0">
                          <a:solidFill>
                            <a:schemeClr val="dk1"/>
                          </a:solidFill>
                          <a:effectLst/>
                          <a:latin typeface="+mn-lt"/>
                          <a:ea typeface="+mn-ea"/>
                          <a:cs typeface="+mn-cs"/>
                        </a:rPr>
                        <a:t>Secure, expandable, practical</a:t>
                      </a:r>
                      <a:endParaRPr lang="en-US" sz="1700" dirty="0">
                        <a:effectLst/>
                      </a:endParaRPr>
                    </a:p>
                  </a:txBody>
                  <a:tcPr anchor="ctr"/>
                </a:tc>
                <a:tc>
                  <a:txBody>
                    <a:bodyPr/>
                    <a:lstStyle/>
                    <a:p>
                      <a:pPr lvl="0" algn="l" fontAlgn="base">
                        <a:lnSpc>
                          <a:spcPct val="100000"/>
                        </a:lnSpc>
                        <a:buNone/>
                      </a:pPr>
                      <a:r>
                        <a:rPr lang="en-IN" sz="1800" b="0" i="0" kern="1200" dirty="0">
                          <a:solidFill>
                            <a:schemeClr val="dk1"/>
                          </a:solidFill>
                          <a:effectLst/>
                          <a:latin typeface="+mn-lt"/>
                          <a:ea typeface="+mn-ea"/>
                          <a:cs typeface="+mn-cs"/>
                        </a:rPr>
                        <a:t>Maintenance, regulatory needs</a:t>
                      </a:r>
                      <a:endParaRPr lang="en-IN" sz="1700" dirty="0">
                        <a:effectLst/>
                      </a:endParaRPr>
                    </a:p>
                  </a:txBody>
                  <a:tcPr anchor="ctr"/>
                </a:tc>
                <a:extLst>
                  <a:ext uri="{0D108BD9-81ED-4DB2-BD59-A6C34878D82A}">
                    <a16:rowId xmlns:a16="http://schemas.microsoft.com/office/drawing/2014/main" val="10003"/>
                  </a:ext>
                </a:extLst>
              </a:tr>
              <a:tr h="1172235">
                <a:tc>
                  <a:txBody>
                    <a:bodyPr/>
                    <a:lstStyle/>
                    <a:p>
                      <a:pPr lvl="0" algn="ctr">
                        <a:lnSpc>
                          <a:spcPct val="200000"/>
                        </a:lnSpc>
                      </a:pPr>
                      <a:r>
                        <a:rPr lang="en-IN" sz="1700" dirty="0"/>
                        <a:t>4.</a:t>
                      </a:r>
                    </a:p>
                  </a:txBody>
                  <a:tcPr/>
                </a:tc>
                <a:tc>
                  <a:txBody>
                    <a:bodyPr/>
                    <a:lstStyle/>
                    <a:p>
                      <a:pPr fontAlgn="base" latinLnBrk="0">
                        <a:buNone/>
                      </a:pPr>
                      <a:br>
                        <a:rPr lang="en-IN" dirty="0">
                          <a:effectLst/>
                        </a:rPr>
                      </a:br>
                      <a:r>
                        <a:rPr lang="en-IN" dirty="0">
                          <a:effectLst/>
                        </a:rPr>
                        <a:t>Conversational Medical AI in Practice </a:t>
                      </a:r>
                    </a:p>
                  </a:txBody>
                  <a:tcPr marL="60960" marR="60960" anchor="ctr"/>
                </a:tc>
                <a:tc>
                  <a:txBody>
                    <a:bodyPr/>
                    <a:lstStyle/>
                    <a:p>
                      <a:pPr lvl="0" algn="l" fontAlgn="base">
                        <a:lnSpc>
                          <a:spcPct val="100000"/>
                        </a:lnSpc>
                        <a:buNone/>
                      </a:pPr>
                      <a:r>
                        <a:rPr lang="en-US" sz="1800" b="0" i="0" kern="1200" dirty="0">
                          <a:solidFill>
                            <a:schemeClr val="dk1"/>
                          </a:solidFill>
                          <a:effectLst/>
                          <a:latin typeface="+mn-lt"/>
                          <a:ea typeface="+mn-ea"/>
                          <a:cs typeface="+mn-cs"/>
                        </a:rPr>
                        <a:t>LLM agent, microservices, live dashboard</a:t>
                      </a:r>
                      <a:endParaRPr lang="en-US" sz="1700" dirty="0">
                        <a:effectLst/>
                      </a:endParaRPr>
                    </a:p>
                  </a:txBody>
                  <a:tcPr anchor="ctr"/>
                </a:tc>
                <a:tc>
                  <a:txBody>
                    <a:bodyPr/>
                    <a:lstStyle/>
                    <a:p>
                      <a:pPr lvl="0" algn="l" fontAlgn="base">
                        <a:lnSpc>
                          <a:spcPct val="100000"/>
                        </a:lnSpc>
                        <a:buNone/>
                      </a:pPr>
                      <a:r>
                        <a:rPr lang="en-IN" sz="1800" b="0" i="0" kern="1200" dirty="0">
                          <a:solidFill>
                            <a:schemeClr val="dk1"/>
                          </a:solidFill>
                          <a:effectLst/>
                          <a:latin typeface="+mn-lt"/>
                          <a:ea typeface="+mn-ea"/>
                          <a:cs typeface="+mn-cs"/>
                        </a:rPr>
                        <a:t>Safe, patient-focused, automated</a:t>
                      </a:r>
                      <a:endParaRPr lang="en-IN" sz="1700" dirty="0">
                        <a:effectLst/>
                      </a:endParaRPr>
                    </a:p>
                  </a:txBody>
                  <a:tcPr anchor="ctr"/>
                </a:tc>
                <a:tc>
                  <a:txBody>
                    <a:bodyPr/>
                    <a:lstStyle/>
                    <a:p>
                      <a:pPr lvl="0" algn="l" fontAlgn="base">
                        <a:lnSpc>
                          <a:spcPct val="100000"/>
                        </a:lnSpc>
                        <a:buNone/>
                      </a:pPr>
                      <a:r>
                        <a:rPr lang="en-IN" sz="1800" b="0" i="0" kern="1200" dirty="0">
                          <a:solidFill>
                            <a:schemeClr val="dk1"/>
                          </a:solidFill>
                          <a:effectLst/>
                          <a:latin typeface="+mn-lt"/>
                          <a:ea typeface="+mn-ea"/>
                          <a:cs typeface="+mn-cs"/>
                        </a:rPr>
                        <a:t>Needs supervision, complex system</a:t>
                      </a:r>
                      <a:endParaRPr lang="en-US" sz="1700" dirty="0">
                        <a:effectLst/>
                      </a:endParaRPr>
                    </a:p>
                  </a:txBody>
                  <a:tcPr anchor="ctr"/>
                </a:tc>
                <a:extLst>
                  <a:ext uri="{0D108BD9-81ED-4DB2-BD59-A6C34878D82A}">
                    <a16:rowId xmlns:a16="http://schemas.microsoft.com/office/drawing/2014/main" val="10004"/>
                  </a:ext>
                </a:extLst>
              </a:tr>
              <a:tr h="994977">
                <a:tc>
                  <a:txBody>
                    <a:bodyPr/>
                    <a:lstStyle/>
                    <a:p>
                      <a:pPr lvl="0" algn="ctr">
                        <a:lnSpc>
                          <a:spcPct val="200000"/>
                        </a:lnSpc>
                      </a:pPr>
                      <a:r>
                        <a:rPr lang="en-IN" sz="1700" dirty="0"/>
                        <a:t>5.</a:t>
                      </a:r>
                    </a:p>
                  </a:txBody>
                  <a:tcPr/>
                </a:tc>
                <a:tc>
                  <a:txBody>
                    <a:bodyPr/>
                    <a:lstStyle/>
                    <a:p>
                      <a:pPr lvl="0" algn="l" fontAlgn="base">
                        <a:lnSpc>
                          <a:spcPct val="100000"/>
                        </a:lnSpc>
                        <a:buNone/>
                      </a:pPr>
                      <a:r>
                        <a:rPr lang="en-US" sz="1800" b="0" i="0" kern="1200" dirty="0">
                          <a:solidFill>
                            <a:schemeClr val="dk1"/>
                          </a:solidFill>
                          <a:effectLst/>
                          <a:latin typeface="+mn-lt"/>
                          <a:ea typeface="+mn-ea"/>
                          <a:cs typeface="+mn-cs"/>
                        </a:rPr>
                        <a:t>AI Agents for Chronic Diseases ​</a:t>
                      </a:r>
                      <a:endParaRPr lang="en-IN" sz="1700" dirty="0">
                        <a:effectLst/>
                      </a:endParaRPr>
                    </a:p>
                  </a:txBody>
                  <a:tcPr marB="152400" anchor="ctr"/>
                </a:tc>
                <a:tc>
                  <a:txBody>
                    <a:bodyPr/>
                    <a:lstStyle/>
                    <a:p>
                      <a:pPr lvl="0" algn="l" fontAlgn="base">
                        <a:lnSpc>
                          <a:spcPct val="100000"/>
                        </a:lnSpc>
                        <a:buNone/>
                      </a:pPr>
                      <a:r>
                        <a:rPr lang="en-US" sz="1800" b="0" i="0" kern="1200" dirty="0">
                          <a:solidFill>
                            <a:schemeClr val="dk1"/>
                          </a:solidFill>
                          <a:effectLst/>
                          <a:latin typeface="+mn-lt"/>
                          <a:ea typeface="+mn-ea"/>
                          <a:cs typeface="+mn-cs"/>
                        </a:rPr>
                        <a:t>Multi-modal agents, secure backend, dashboard</a:t>
                      </a:r>
                      <a:endParaRPr lang="en-US" sz="1700" dirty="0">
                        <a:effectLst/>
                      </a:endParaRPr>
                    </a:p>
                  </a:txBody>
                  <a:tcPr marB="152400" anchor="ctr"/>
                </a:tc>
                <a:tc>
                  <a:txBody>
                    <a:bodyPr/>
                    <a:lstStyle/>
                    <a:p>
                      <a:pPr lvl="0" algn="l" fontAlgn="base">
                        <a:lnSpc>
                          <a:spcPct val="100000"/>
                        </a:lnSpc>
                        <a:buNone/>
                      </a:pPr>
                      <a:r>
                        <a:rPr lang="en-IN" sz="1800" b="0" i="0" kern="1200" dirty="0">
                          <a:solidFill>
                            <a:schemeClr val="dk1"/>
                          </a:solidFill>
                          <a:effectLst/>
                          <a:latin typeface="+mn-lt"/>
                          <a:ea typeface="+mn-ea"/>
                          <a:cs typeface="+mn-cs"/>
                        </a:rPr>
                        <a:t>Evidence-based, reliable</a:t>
                      </a:r>
                      <a:endParaRPr lang="en-IN" sz="1700" dirty="0">
                        <a:effectLst/>
                      </a:endParaRPr>
                    </a:p>
                  </a:txBody>
                  <a:tcPr marB="152400" anchor="ctr"/>
                </a:tc>
                <a:tc>
                  <a:txBody>
                    <a:bodyPr/>
                    <a:lstStyle/>
                    <a:p>
                      <a:pPr lvl="0" algn="l" fontAlgn="base">
                        <a:lnSpc>
                          <a:spcPct val="100000"/>
                        </a:lnSpc>
                        <a:buNone/>
                      </a:pPr>
                      <a:r>
                        <a:rPr lang="en-IN" sz="1800" b="0" i="0" kern="1200" dirty="0">
                          <a:solidFill>
                            <a:schemeClr val="dk1"/>
                          </a:solidFill>
                          <a:effectLst/>
                          <a:latin typeface="+mn-lt"/>
                          <a:ea typeface="+mn-ea"/>
                          <a:cs typeface="+mn-cs"/>
                        </a:rPr>
                        <a:t>Limited scope, privacy compliance</a:t>
                      </a:r>
                      <a:endParaRPr lang="en-IN" sz="1700" dirty="0">
                        <a:effectLst/>
                      </a:endParaRPr>
                    </a:p>
                  </a:txBody>
                  <a:tcPr marB="152400" anchor="ctr"/>
                </a:tc>
                <a:extLst>
                  <a:ext uri="{0D108BD9-81ED-4DB2-BD59-A6C34878D82A}">
                    <a16:rowId xmlns:a16="http://schemas.microsoft.com/office/drawing/2014/main" val="10005"/>
                  </a:ext>
                </a:extLst>
              </a:tr>
            </a:tbl>
          </a:graphicData>
        </a:graphic>
      </p:graphicFrame>
      <p:grpSp>
        <p:nvGrpSpPr>
          <p:cNvPr id="6" name="object 2">
            <a:extLst>
              <a:ext uri="{FF2B5EF4-FFF2-40B4-BE49-F238E27FC236}">
                <a16:creationId xmlns:a16="http://schemas.microsoft.com/office/drawing/2014/main" id="{86C2EFF5-AAC8-05D7-98EC-17A3436A2B17}"/>
              </a:ext>
            </a:extLst>
          </p:cNvPr>
          <p:cNvGrpSpPr/>
          <p:nvPr/>
        </p:nvGrpSpPr>
        <p:grpSpPr>
          <a:xfrm>
            <a:off x="0" y="0"/>
            <a:ext cx="12192000" cy="6858000"/>
            <a:chOff x="0" y="0"/>
            <a:chExt cx="12192000" cy="6858000"/>
          </a:xfrm>
        </p:grpSpPr>
        <p:pic>
          <p:nvPicPr>
            <p:cNvPr id="7" name="object 3">
              <a:extLst>
                <a:ext uri="{FF2B5EF4-FFF2-40B4-BE49-F238E27FC236}">
                  <a16:creationId xmlns:a16="http://schemas.microsoft.com/office/drawing/2014/main" id="{698561FF-C13F-E18B-3B4C-2A3513EE0A9B}"/>
                </a:ext>
              </a:extLst>
            </p:cNvPr>
            <p:cNvPicPr/>
            <p:nvPr/>
          </p:nvPicPr>
          <p:blipFill>
            <a:blip r:embed="rId2" cstate="print"/>
            <a:stretch>
              <a:fillRect/>
            </a:stretch>
          </p:blipFill>
          <p:spPr>
            <a:xfrm>
              <a:off x="0" y="0"/>
              <a:ext cx="12192000" cy="6858000"/>
            </a:xfrm>
            <a:prstGeom prst="rect">
              <a:avLst/>
            </a:prstGeom>
          </p:spPr>
        </p:pic>
        <p:pic>
          <p:nvPicPr>
            <p:cNvPr id="8" name="object 4">
              <a:extLst>
                <a:ext uri="{FF2B5EF4-FFF2-40B4-BE49-F238E27FC236}">
                  <a16:creationId xmlns:a16="http://schemas.microsoft.com/office/drawing/2014/main" id="{2DF44630-CFB2-D92D-59CE-7A5AF5DF82BE}"/>
                </a:ext>
              </a:extLst>
            </p:cNvPr>
            <p:cNvPicPr/>
            <p:nvPr/>
          </p:nvPicPr>
          <p:blipFill>
            <a:blip r:embed="rId3" cstate="print"/>
            <a:stretch>
              <a:fillRect/>
            </a:stretch>
          </p:blipFill>
          <p:spPr>
            <a:xfrm>
              <a:off x="0" y="0"/>
              <a:ext cx="12172950" cy="6858000"/>
            </a:xfrm>
            <a:prstGeom prst="rect">
              <a:avLst/>
            </a:prstGeom>
          </p:spPr>
        </p:pic>
        <p:pic>
          <p:nvPicPr>
            <p:cNvPr id="9" name="object 5">
              <a:extLst>
                <a:ext uri="{FF2B5EF4-FFF2-40B4-BE49-F238E27FC236}">
                  <a16:creationId xmlns:a16="http://schemas.microsoft.com/office/drawing/2014/main" id="{F06E30E0-5D7F-4253-F7DD-0F8612597CC5}"/>
                </a:ext>
              </a:extLst>
            </p:cNvPr>
            <p:cNvPicPr/>
            <p:nvPr/>
          </p:nvPicPr>
          <p:blipFill>
            <a:blip r:embed="rId4" cstate="print"/>
            <a:stretch>
              <a:fillRect/>
            </a:stretch>
          </p:blipFill>
          <p:spPr>
            <a:xfrm>
              <a:off x="9772650" y="161925"/>
              <a:ext cx="2181225" cy="600075"/>
            </a:xfrm>
            <a:prstGeom prst="rect">
              <a:avLst/>
            </a:prstGeom>
          </p:spPr>
        </p:pic>
      </p:grpSp>
    </p:spTree>
    <p:extLst>
      <p:ext uri="{BB962C8B-B14F-4D97-AF65-F5344CB8AC3E}">
        <p14:creationId xmlns:p14="http://schemas.microsoft.com/office/powerpoint/2010/main" val="2945673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C56D9-1AB4-3D2F-B210-BE5E78DF5276}"/>
              </a:ext>
            </a:extLst>
          </p:cNvPr>
          <p:cNvSpPr>
            <a:spLocks noGrp="1"/>
          </p:cNvSpPr>
          <p:nvPr>
            <p:ph type="title"/>
          </p:nvPr>
        </p:nvSpPr>
        <p:spPr>
          <a:xfrm>
            <a:off x="2514600" y="304800"/>
            <a:ext cx="7772400" cy="646331"/>
          </a:xfrm>
        </p:spPr>
        <p:txBody>
          <a:bodyPr/>
          <a:lstStyle/>
          <a:p>
            <a:r>
              <a:rPr lang="en-IN" sz="4200" b="1" dirty="0">
                <a:latin typeface="Times New Roman" panose="02020603050405020304" pitchFamily="18" charset="0"/>
                <a:cs typeface="Times New Roman" panose="02020603050405020304" pitchFamily="18" charset="0"/>
              </a:rPr>
              <a:t>Proposed System Architecture</a:t>
            </a:r>
          </a:p>
        </p:txBody>
      </p:sp>
      <p:pic>
        <p:nvPicPr>
          <p:cNvPr id="5" name="Picture 4">
            <a:extLst>
              <a:ext uri="{FF2B5EF4-FFF2-40B4-BE49-F238E27FC236}">
                <a16:creationId xmlns:a16="http://schemas.microsoft.com/office/drawing/2014/main" id="{C992FDE0-6157-B6B0-6122-D69B2928ED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9400" y="1143000"/>
            <a:ext cx="6096000" cy="5334000"/>
          </a:xfrm>
          <a:prstGeom prst="rect">
            <a:avLst/>
          </a:prstGeom>
        </p:spPr>
      </p:pic>
      <p:grpSp>
        <p:nvGrpSpPr>
          <p:cNvPr id="3" name="object 2">
            <a:extLst>
              <a:ext uri="{FF2B5EF4-FFF2-40B4-BE49-F238E27FC236}">
                <a16:creationId xmlns:a16="http://schemas.microsoft.com/office/drawing/2014/main" id="{C86F014E-7E86-87D9-199E-56D831E4C7CF}"/>
              </a:ext>
            </a:extLst>
          </p:cNvPr>
          <p:cNvGrpSpPr/>
          <p:nvPr/>
        </p:nvGrpSpPr>
        <p:grpSpPr>
          <a:xfrm>
            <a:off x="-4916" y="0"/>
            <a:ext cx="12192000" cy="6858000"/>
            <a:chOff x="0" y="0"/>
            <a:chExt cx="12192000" cy="6858000"/>
          </a:xfrm>
        </p:grpSpPr>
        <p:pic>
          <p:nvPicPr>
            <p:cNvPr id="4" name="object 3">
              <a:extLst>
                <a:ext uri="{FF2B5EF4-FFF2-40B4-BE49-F238E27FC236}">
                  <a16:creationId xmlns:a16="http://schemas.microsoft.com/office/drawing/2014/main" id="{3BFDFF83-43FF-8F35-F557-738DD1FC4F06}"/>
                </a:ext>
              </a:extLst>
            </p:cNvPr>
            <p:cNvPicPr/>
            <p:nvPr/>
          </p:nvPicPr>
          <p:blipFill>
            <a:blip r:embed="rId3" cstate="print"/>
            <a:stretch>
              <a:fillRect/>
            </a:stretch>
          </p:blipFill>
          <p:spPr>
            <a:xfrm>
              <a:off x="0" y="0"/>
              <a:ext cx="12192000" cy="6858000"/>
            </a:xfrm>
            <a:prstGeom prst="rect">
              <a:avLst/>
            </a:prstGeom>
          </p:spPr>
        </p:pic>
        <p:pic>
          <p:nvPicPr>
            <p:cNvPr id="10" name="object 4">
              <a:extLst>
                <a:ext uri="{FF2B5EF4-FFF2-40B4-BE49-F238E27FC236}">
                  <a16:creationId xmlns:a16="http://schemas.microsoft.com/office/drawing/2014/main" id="{748923B7-9944-F69F-0ADC-142C0749A6A7}"/>
                </a:ext>
              </a:extLst>
            </p:cNvPr>
            <p:cNvPicPr/>
            <p:nvPr/>
          </p:nvPicPr>
          <p:blipFill>
            <a:blip r:embed="rId4" cstate="print"/>
            <a:stretch>
              <a:fillRect/>
            </a:stretch>
          </p:blipFill>
          <p:spPr>
            <a:xfrm>
              <a:off x="0" y="0"/>
              <a:ext cx="12172950" cy="6858000"/>
            </a:xfrm>
            <a:prstGeom prst="rect">
              <a:avLst/>
            </a:prstGeom>
          </p:spPr>
        </p:pic>
        <p:pic>
          <p:nvPicPr>
            <p:cNvPr id="11" name="object 5">
              <a:extLst>
                <a:ext uri="{FF2B5EF4-FFF2-40B4-BE49-F238E27FC236}">
                  <a16:creationId xmlns:a16="http://schemas.microsoft.com/office/drawing/2014/main" id="{434E7D9E-2398-A5DD-CD46-029220B5F9F8}"/>
                </a:ext>
              </a:extLst>
            </p:cNvPr>
            <p:cNvPicPr/>
            <p:nvPr/>
          </p:nvPicPr>
          <p:blipFill>
            <a:blip r:embed="rId5" cstate="print"/>
            <a:stretch>
              <a:fillRect/>
            </a:stretch>
          </p:blipFill>
          <p:spPr>
            <a:xfrm>
              <a:off x="9772650" y="161925"/>
              <a:ext cx="2181225" cy="600075"/>
            </a:xfrm>
            <a:prstGeom prst="rect">
              <a:avLst/>
            </a:prstGeom>
          </p:spPr>
        </p:pic>
      </p:grpSp>
    </p:spTree>
    <p:extLst>
      <p:ext uri="{BB962C8B-B14F-4D97-AF65-F5344CB8AC3E}">
        <p14:creationId xmlns:p14="http://schemas.microsoft.com/office/powerpoint/2010/main" val="112219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C6084-5F8D-0233-B730-39145F847B7B}"/>
              </a:ext>
            </a:extLst>
          </p:cNvPr>
          <p:cNvSpPr>
            <a:spLocks noGrp="1"/>
          </p:cNvSpPr>
          <p:nvPr>
            <p:ph type="title"/>
          </p:nvPr>
        </p:nvSpPr>
        <p:spPr>
          <a:xfrm>
            <a:off x="838200" y="304800"/>
            <a:ext cx="8397558" cy="1354217"/>
          </a:xfrm>
        </p:spPr>
        <p:txBody>
          <a:bodyPr/>
          <a:lstStyle/>
          <a:p>
            <a:r>
              <a:rPr lang="en-US" b="1" dirty="0">
                <a:latin typeface="Times New Roman" panose="02020603050405020304" pitchFamily="18" charset="0"/>
                <a:cs typeface="Times New Roman" panose="02020603050405020304" pitchFamily="18" charset="0"/>
              </a:rPr>
              <a:t>Sahay System Architecture</a:t>
            </a:r>
            <a:br>
              <a:rPr lang="en-US" b="1" dirty="0">
                <a:latin typeface="Times New Roman" panose="02020603050405020304" pitchFamily="18" charset="0"/>
                <a:cs typeface="Times New Roman" panose="02020603050405020304" pitchFamily="18" charset="0"/>
              </a:rPr>
            </a:br>
            <a:endParaRPr lang="en-IN" dirty="0"/>
          </a:p>
        </p:txBody>
      </p:sp>
      <p:sp>
        <p:nvSpPr>
          <p:cNvPr id="4" name="Rectangle 1">
            <a:extLst>
              <a:ext uri="{FF2B5EF4-FFF2-40B4-BE49-F238E27FC236}">
                <a16:creationId xmlns:a16="http://schemas.microsoft.com/office/drawing/2014/main" id="{49699524-9486-9EB0-33E1-2DD2F85D5755}"/>
              </a:ext>
            </a:extLst>
          </p:cNvPr>
          <p:cNvSpPr>
            <a:spLocks noGrp="1" noChangeArrowheads="1"/>
          </p:cNvSpPr>
          <p:nvPr>
            <p:ph type="body" idx="1"/>
          </p:nvPr>
        </p:nvSpPr>
        <p:spPr bwMode="auto">
          <a:xfrm>
            <a:off x="838200" y="1143000"/>
            <a:ext cx="9982199"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1  User Interfaces (The Front-Door)</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rPr>
              <a:t>      </a:t>
            </a:r>
            <a:r>
              <a:rPr kumimoji="0" lang="en-US" altLang="en-US" sz="2400" i="0" u="none" strike="noStrike" cap="none" normalizeH="0" baseline="0" dirty="0">
                <a:ln>
                  <a:noFill/>
                </a:ln>
                <a:solidFill>
                  <a:schemeClr val="tx1"/>
                </a:solidFill>
                <a:effectLst/>
                <a:latin typeface="Arial" panose="020B0604020202020204" pitchFamily="34" charset="0"/>
              </a:rPr>
              <a:t>Web App</a:t>
            </a:r>
            <a:r>
              <a:rPr kumimoji="0" lang="en-US" altLang="en-US" sz="2400" b="1" i="0" u="none" strike="noStrike" cap="none" normalizeH="0" baseline="0" dirty="0">
                <a:ln>
                  <a:noFill/>
                </a:ln>
                <a:solidFill>
                  <a:schemeClr val="tx1"/>
                </a:solidFill>
                <a:effectLst/>
                <a:latin typeface="Arial" panose="020B0604020202020204" pitchFamily="34" charset="0"/>
              </a:rPr>
              <a:t>:</a:t>
            </a:r>
            <a:r>
              <a:rPr kumimoji="0" lang="en-US" altLang="en-US" sz="2400" b="0" i="0" u="none" strike="noStrike" cap="none" normalizeH="0" baseline="0" dirty="0">
                <a:ln>
                  <a:noFill/>
                </a:ln>
                <a:solidFill>
                  <a:schemeClr val="tx1"/>
                </a:solidFill>
                <a:effectLst/>
                <a:latin typeface="Arial" panose="020B0604020202020204" pitchFamily="34" charset="0"/>
              </a:rPr>
              <a:t> For voice and text chat.</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i="0" u="none" strike="noStrike" cap="none" normalizeH="0" baseline="0" dirty="0">
                <a:ln>
                  <a:noFill/>
                </a:ln>
                <a:solidFill>
                  <a:schemeClr val="tx1"/>
                </a:solidFill>
                <a:effectLst/>
                <a:latin typeface="Arial" panose="020B0604020202020204" pitchFamily="34" charset="0"/>
              </a:rPr>
              <a:t>      Phone Line (</a:t>
            </a:r>
            <a:r>
              <a:rPr kumimoji="0" lang="en-US" altLang="en-US" sz="2400" i="0" u="none" strike="noStrike" cap="none" normalizeH="0" baseline="0" dirty="0" err="1">
                <a:ln>
                  <a:noFill/>
                </a:ln>
                <a:solidFill>
                  <a:schemeClr val="tx1"/>
                </a:solidFill>
                <a:effectLst/>
                <a:latin typeface="Arial" panose="020B0604020202020204" pitchFamily="34" charset="0"/>
              </a:rPr>
              <a:t>Exotel</a:t>
            </a:r>
            <a:r>
              <a:rPr kumimoji="0" lang="en-US" altLang="en-US" sz="240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For regular phone calls.</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rPr>
              <a:t>      </a:t>
            </a:r>
            <a:r>
              <a:rPr kumimoji="0" lang="en-US" altLang="en-US" sz="2400" i="0" u="none" strike="noStrike" cap="none" normalizeH="0" baseline="0" dirty="0">
                <a:ln>
                  <a:noFill/>
                </a:ln>
                <a:solidFill>
                  <a:schemeClr val="tx1"/>
                </a:solidFill>
                <a:effectLst/>
                <a:latin typeface="Arial" panose="020B0604020202020204" pitchFamily="34" charset="0"/>
              </a:rPr>
              <a:t>Admin Dashboard: </a:t>
            </a:r>
            <a:r>
              <a:rPr kumimoji="0" lang="en-US" altLang="en-US" sz="2400" b="0" i="0" u="none" strike="noStrike" cap="none" normalizeH="0" baseline="0" dirty="0">
                <a:ln>
                  <a:noFill/>
                </a:ln>
                <a:solidFill>
                  <a:schemeClr val="tx1"/>
                </a:solidFill>
                <a:effectLst/>
                <a:latin typeface="Arial" panose="020B0604020202020204" pitchFamily="34" charset="0"/>
              </a:rPr>
              <a:t>For hospital staff to see bookings.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2  Backend Logic (The "Brain")</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The main </a:t>
            </a:r>
            <a:r>
              <a:rPr kumimoji="0" lang="en-US" altLang="en-US" sz="1800" b="0" i="0" u="none" strike="noStrike" cap="none" normalizeH="0" baseline="0" dirty="0" err="1">
                <a:ln>
                  <a:noFill/>
                </a:ln>
                <a:solidFill>
                  <a:schemeClr val="tx1"/>
                </a:solidFill>
                <a:effectLst/>
                <a:latin typeface="Arial Unicode MS"/>
              </a:rPr>
              <a:t>getAIResponse</a:t>
            </a:r>
            <a:r>
              <a:rPr kumimoji="0" lang="en-US" altLang="en-US" sz="14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rPr>
              <a:t>function understands the user's request.</a:t>
            </a:r>
            <a:endParaRPr kumimoji="0" lang="en-US" altLang="en-US"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It acts as an orchestrator that decides which "tool" to use.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3 Specialized Tools (The "Hands")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Secure, single-job serverless functions (e.g., </a:t>
            </a:r>
            <a:r>
              <a:rPr kumimoji="0" lang="en-US" altLang="en-US" sz="1600" b="0" i="0" u="none" strike="noStrike" cap="none" normalizeH="0" baseline="0" dirty="0" err="1">
                <a:ln>
                  <a:noFill/>
                </a:ln>
                <a:solidFill>
                  <a:schemeClr val="tx1"/>
                </a:solidFill>
                <a:effectLst/>
                <a:latin typeface="Arial Unicode MS"/>
              </a:rPr>
              <a:t>bookAppointment</a:t>
            </a:r>
            <a:r>
              <a:rPr kumimoji="0" lang="en-US" altLang="en-US" sz="12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latin typeface="Arial Unicode MS"/>
              </a:rPr>
              <a:t>getDoctorDetails</a:t>
            </a:r>
            <a:r>
              <a:rPr kumimoji="0" lang="en-US" altLang="en-US" sz="1000" b="0" i="0" u="none" strike="noStrike" cap="none" normalizeH="0" baseline="0" dirty="0">
                <a:ln>
                  <a:noFill/>
                </a:ln>
                <a:solidFill>
                  <a:schemeClr val="tx1"/>
                </a:solidFill>
                <a:effectLst/>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The "brain" tells these "hands" what to do (like save a booking).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4 Data Persistence (The "Memory")</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An </a:t>
            </a:r>
            <a:r>
              <a:rPr kumimoji="0" lang="en-US" altLang="en-US" sz="2400" b="1" i="0" u="none" strike="noStrike" cap="none" normalizeH="0" baseline="0" dirty="0">
                <a:ln>
                  <a:noFill/>
                </a:ln>
                <a:solidFill>
                  <a:schemeClr val="tx1"/>
                </a:solidFill>
                <a:effectLst/>
                <a:latin typeface="Arial" panose="020B0604020202020204" pitchFamily="34" charset="0"/>
              </a:rPr>
              <a:t>ACID-compliant</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Supabase</a:t>
            </a:r>
            <a:r>
              <a:rPr kumimoji="0" lang="en-US" altLang="en-US" sz="2400" b="0" i="0" u="none" strike="noStrike" cap="none" normalizeH="0" baseline="0" dirty="0">
                <a:ln>
                  <a:noFill/>
                </a:ln>
                <a:solidFill>
                  <a:schemeClr val="tx1"/>
                </a:solidFill>
                <a:effectLst/>
                <a:latin typeface="Arial" panose="020B0604020202020204" pitchFamily="34" charset="0"/>
              </a:rPr>
              <a:t> (PostgreSQL) database.</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Reliably stores all </a:t>
            </a:r>
            <a:r>
              <a:rPr kumimoji="0" lang="en-US" altLang="en-US" sz="2000" b="0" i="0" u="none" strike="noStrike" cap="none" normalizeH="0" baseline="0" dirty="0">
                <a:ln>
                  <a:noFill/>
                </a:ln>
                <a:solidFill>
                  <a:schemeClr val="tx1"/>
                </a:solidFill>
                <a:effectLst/>
                <a:latin typeface="Arial Unicode MS"/>
              </a:rPr>
              <a:t>doctors</a:t>
            </a:r>
            <a:r>
              <a:rPr kumimoji="0" lang="en-US" altLang="en-US" sz="1600" b="0" i="0" u="none" strike="noStrike" cap="none" normalizeH="0" baseline="0" dirty="0">
                <a:ln>
                  <a:noFill/>
                </a:ln>
                <a:solidFill>
                  <a:schemeClr val="tx1"/>
                </a:solidFill>
                <a:effectLst/>
              </a:rPr>
              <a:t> and </a:t>
            </a:r>
            <a:r>
              <a:rPr kumimoji="0" lang="en-US" altLang="en-US" sz="2000" b="0" i="0" u="none" strike="noStrike" cap="none" normalizeH="0" baseline="0" dirty="0">
                <a:ln>
                  <a:noFill/>
                </a:ln>
                <a:solidFill>
                  <a:schemeClr val="tx1"/>
                </a:solidFill>
                <a:effectLst/>
                <a:latin typeface="Arial Unicode MS"/>
              </a:rPr>
              <a:t>appointments</a:t>
            </a:r>
            <a:r>
              <a:rPr kumimoji="0" lang="en-US" altLang="en-US" sz="1600" b="0" i="0" u="none" strike="noStrike" cap="none" normalizeH="0" baseline="0" dirty="0">
                <a:ln>
                  <a:noFill/>
                </a:ln>
                <a:solidFill>
                  <a:schemeClr val="tx1"/>
                </a:solidFill>
                <a:effectLst/>
              </a:rPr>
              <a:t> data, preventing errors like double-bookings</a:t>
            </a:r>
            <a:r>
              <a:rPr kumimoji="0" lang="en-US" altLang="en-US" sz="1000" b="0" i="0" u="none" strike="noStrike" cap="none" normalizeH="0" baseline="0" dirty="0">
                <a:ln>
                  <a:noFill/>
                </a:ln>
                <a:solidFill>
                  <a:schemeClr val="tx1"/>
                </a:solidFill>
                <a:effectLst/>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grpSp>
        <p:nvGrpSpPr>
          <p:cNvPr id="3" name="object 2">
            <a:extLst>
              <a:ext uri="{FF2B5EF4-FFF2-40B4-BE49-F238E27FC236}">
                <a16:creationId xmlns:a16="http://schemas.microsoft.com/office/drawing/2014/main" id="{3DD215D2-818F-3E1E-0A0C-F78BD97095ED}"/>
              </a:ext>
            </a:extLst>
          </p:cNvPr>
          <p:cNvGrpSpPr/>
          <p:nvPr/>
        </p:nvGrpSpPr>
        <p:grpSpPr>
          <a:xfrm>
            <a:off x="-4916" y="0"/>
            <a:ext cx="12192000" cy="6858000"/>
            <a:chOff x="0" y="0"/>
            <a:chExt cx="12192000" cy="6858000"/>
          </a:xfrm>
        </p:grpSpPr>
        <p:pic>
          <p:nvPicPr>
            <p:cNvPr id="9" name="object 3">
              <a:extLst>
                <a:ext uri="{FF2B5EF4-FFF2-40B4-BE49-F238E27FC236}">
                  <a16:creationId xmlns:a16="http://schemas.microsoft.com/office/drawing/2014/main" id="{159EB237-D1F4-EA69-C982-819E99BAB265}"/>
                </a:ext>
              </a:extLst>
            </p:cNvPr>
            <p:cNvPicPr/>
            <p:nvPr/>
          </p:nvPicPr>
          <p:blipFill>
            <a:blip r:embed="rId2" cstate="print"/>
            <a:stretch>
              <a:fillRect/>
            </a:stretch>
          </p:blipFill>
          <p:spPr>
            <a:xfrm>
              <a:off x="0" y="0"/>
              <a:ext cx="12192000" cy="6858000"/>
            </a:xfrm>
            <a:prstGeom prst="rect">
              <a:avLst/>
            </a:prstGeom>
          </p:spPr>
        </p:pic>
        <p:pic>
          <p:nvPicPr>
            <p:cNvPr id="10" name="object 4">
              <a:extLst>
                <a:ext uri="{FF2B5EF4-FFF2-40B4-BE49-F238E27FC236}">
                  <a16:creationId xmlns:a16="http://schemas.microsoft.com/office/drawing/2014/main" id="{7460F77B-C082-45DB-70CD-F009F1B7AFB0}"/>
                </a:ext>
              </a:extLst>
            </p:cNvPr>
            <p:cNvPicPr/>
            <p:nvPr/>
          </p:nvPicPr>
          <p:blipFill>
            <a:blip r:embed="rId3" cstate="print"/>
            <a:stretch>
              <a:fillRect/>
            </a:stretch>
          </p:blipFill>
          <p:spPr>
            <a:xfrm>
              <a:off x="0" y="0"/>
              <a:ext cx="12172950" cy="6858000"/>
            </a:xfrm>
            <a:prstGeom prst="rect">
              <a:avLst/>
            </a:prstGeom>
          </p:spPr>
        </p:pic>
        <p:pic>
          <p:nvPicPr>
            <p:cNvPr id="11" name="object 5">
              <a:extLst>
                <a:ext uri="{FF2B5EF4-FFF2-40B4-BE49-F238E27FC236}">
                  <a16:creationId xmlns:a16="http://schemas.microsoft.com/office/drawing/2014/main" id="{479395AC-9CC2-8B09-1233-938DB7DD347D}"/>
                </a:ext>
              </a:extLst>
            </p:cNvPr>
            <p:cNvPicPr/>
            <p:nvPr/>
          </p:nvPicPr>
          <p:blipFill>
            <a:blip r:embed="rId4" cstate="print"/>
            <a:stretch>
              <a:fillRect/>
            </a:stretch>
          </p:blipFill>
          <p:spPr>
            <a:xfrm>
              <a:off x="9772650" y="161925"/>
              <a:ext cx="2181225" cy="600075"/>
            </a:xfrm>
            <a:prstGeom prst="rect">
              <a:avLst/>
            </a:prstGeom>
          </p:spPr>
        </p:pic>
      </p:grpSp>
    </p:spTree>
    <p:extLst>
      <p:ext uri="{BB962C8B-B14F-4D97-AF65-F5344CB8AC3E}">
        <p14:creationId xmlns:p14="http://schemas.microsoft.com/office/powerpoint/2010/main" val="1715183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BFAB-AC7C-E933-C0C8-BA6D3203ED54}"/>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3167737A-BCFE-250D-AA3A-0A13E73ECAD9}"/>
              </a:ext>
            </a:extLst>
          </p:cNvPr>
          <p:cNvGrpSpPr/>
          <p:nvPr/>
        </p:nvGrpSpPr>
        <p:grpSpPr>
          <a:xfrm>
            <a:off x="-4916" y="0"/>
            <a:ext cx="12192000" cy="6858000"/>
            <a:chOff x="0" y="0"/>
            <a:chExt cx="12192000" cy="6858000"/>
          </a:xfrm>
        </p:grpSpPr>
        <p:pic>
          <p:nvPicPr>
            <p:cNvPr id="3" name="object 3">
              <a:extLst>
                <a:ext uri="{FF2B5EF4-FFF2-40B4-BE49-F238E27FC236}">
                  <a16:creationId xmlns:a16="http://schemas.microsoft.com/office/drawing/2014/main" id="{04ADEA22-8900-6DA0-8DF4-BE43A9A2DCC1}"/>
                </a:ext>
              </a:extLst>
            </p:cNvPr>
            <p:cNvPicPr/>
            <p:nvPr/>
          </p:nvPicPr>
          <p:blipFill>
            <a:blip r:embed="rId2" cstate="print"/>
            <a:stretch>
              <a:fillRect/>
            </a:stretch>
          </p:blipFill>
          <p:spPr>
            <a:xfrm>
              <a:off x="0" y="0"/>
              <a:ext cx="12192000" cy="6858000"/>
            </a:xfrm>
            <a:prstGeom prst="rect">
              <a:avLst/>
            </a:prstGeom>
          </p:spPr>
        </p:pic>
        <p:pic>
          <p:nvPicPr>
            <p:cNvPr id="4" name="object 4">
              <a:extLst>
                <a:ext uri="{FF2B5EF4-FFF2-40B4-BE49-F238E27FC236}">
                  <a16:creationId xmlns:a16="http://schemas.microsoft.com/office/drawing/2014/main" id="{11BA6789-9232-434C-70F5-65DEE319B5E3}"/>
                </a:ext>
              </a:extLst>
            </p:cNvPr>
            <p:cNvPicPr/>
            <p:nvPr/>
          </p:nvPicPr>
          <p:blipFill>
            <a:blip r:embed="rId3" cstate="print"/>
            <a:stretch>
              <a:fillRect/>
            </a:stretch>
          </p:blipFill>
          <p:spPr>
            <a:xfrm>
              <a:off x="0" y="0"/>
              <a:ext cx="12172950" cy="6858000"/>
            </a:xfrm>
            <a:prstGeom prst="rect">
              <a:avLst/>
            </a:prstGeom>
          </p:spPr>
        </p:pic>
        <p:pic>
          <p:nvPicPr>
            <p:cNvPr id="5" name="object 5">
              <a:extLst>
                <a:ext uri="{FF2B5EF4-FFF2-40B4-BE49-F238E27FC236}">
                  <a16:creationId xmlns:a16="http://schemas.microsoft.com/office/drawing/2014/main" id="{E570254E-558F-FA8A-B633-2CA5C6CA481A}"/>
                </a:ext>
              </a:extLst>
            </p:cNvPr>
            <p:cNvPicPr/>
            <p:nvPr/>
          </p:nvPicPr>
          <p:blipFill>
            <a:blip r:embed="rId4" cstate="print"/>
            <a:stretch>
              <a:fillRect/>
            </a:stretch>
          </p:blipFill>
          <p:spPr>
            <a:xfrm>
              <a:off x="9772650" y="161925"/>
              <a:ext cx="2181225" cy="600075"/>
            </a:xfrm>
            <a:prstGeom prst="rect">
              <a:avLst/>
            </a:prstGeom>
          </p:spPr>
        </p:pic>
      </p:grpSp>
      <p:sp>
        <p:nvSpPr>
          <p:cNvPr id="6" name="object 6">
            <a:extLst>
              <a:ext uri="{FF2B5EF4-FFF2-40B4-BE49-F238E27FC236}">
                <a16:creationId xmlns:a16="http://schemas.microsoft.com/office/drawing/2014/main" id="{D825F368-6F79-60FF-FFB3-5B808B914DB8}"/>
              </a:ext>
            </a:extLst>
          </p:cNvPr>
          <p:cNvSpPr txBox="1">
            <a:spLocks noGrp="1"/>
          </p:cNvSpPr>
          <p:nvPr>
            <p:ph type="title"/>
          </p:nvPr>
        </p:nvSpPr>
        <p:spPr>
          <a:xfrm>
            <a:off x="762000" y="277720"/>
            <a:ext cx="5410200" cy="811631"/>
          </a:xfrm>
          <a:prstGeom prst="rect">
            <a:avLst/>
          </a:prstGeom>
        </p:spPr>
        <p:txBody>
          <a:bodyPr vert="horz" wrap="square" lIns="0" tIns="255142" rIns="0" bIns="0" rtlCol="0">
            <a:spAutoFit/>
          </a:bodyPr>
          <a:lstStyle/>
          <a:p>
            <a:pPr marL="12700">
              <a:lnSpc>
                <a:spcPct val="100000"/>
              </a:lnSpc>
              <a:spcBef>
                <a:spcPts val="130"/>
              </a:spcBef>
            </a:pPr>
            <a:r>
              <a:rPr lang="en-IN" sz="3600" b="1" dirty="0">
                <a:latin typeface="Times New Roman" panose="02020603050405020304" pitchFamily="18" charset="0"/>
                <a:cs typeface="Times New Roman" panose="02020603050405020304" pitchFamily="18" charset="0"/>
              </a:rPr>
              <a:t>SAHAY – Module Division</a:t>
            </a:r>
            <a:endParaRPr sz="3600" b="1" dirty="0">
              <a:solidFill>
                <a:srgbClr val="0070C0"/>
              </a:solidFill>
              <a:latin typeface="Times New Roman" panose="02020603050405020304" pitchFamily="18" charset="0"/>
              <a:cs typeface="Times New Roman" panose="02020603050405020304" pitchFamily="18" charset="0"/>
            </a:endParaRPr>
          </a:p>
        </p:txBody>
      </p:sp>
      <p:sp>
        <p:nvSpPr>
          <p:cNvPr id="15" name="object 7">
            <a:extLst>
              <a:ext uri="{FF2B5EF4-FFF2-40B4-BE49-F238E27FC236}">
                <a16:creationId xmlns:a16="http://schemas.microsoft.com/office/drawing/2014/main" id="{141173D9-A702-154F-02E2-6DFE76E353AF}"/>
              </a:ext>
            </a:extLst>
          </p:cNvPr>
          <p:cNvSpPr txBox="1"/>
          <p:nvPr/>
        </p:nvSpPr>
        <p:spPr>
          <a:xfrm>
            <a:off x="1445640" y="3211068"/>
            <a:ext cx="10471651" cy="248914"/>
          </a:xfrm>
          <a:prstGeom prst="rect">
            <a:avLst/>
          </a:prstGeom>
        </p:spPr>
        <p:txBody>
          <a:bodyPr vert="horz" wrap="square" lIns="0" tIns="6350" rIns="0" bIns="0" rtlCol="0">
            <a:spAutoFit/>
          </a:bodyPr>
          <a:lstStyle/>
          <a:p>
            <a:pPr marL="12700" marR="5080" algn="just">
              <a:lnSpc>
                <a:spcPct val="102400"/>
              </a:lnSpc>
              <a:spcBef>
                <a:spcPts val="50"/>
              </a:spcBef>
            </a:pPr>
            <a:endParaRPr lang="en-US" sz="1600" dirty="0">
              <a:latin typeface="Calibri"/>
              <a:cs typeface="Calibri"/>
            </a:endParaRPr>
          </a:p>
        </p:txBody>
      </p:sp>
      <p:sp>
        <p:nvSpPr>
          <p:cNvPr id="16" name="Rectangle 2">
            <a:extLst>
              <a:ext uri="{FF2B5EF4-FFF2-40B4-BE49-F238E27FC236}">
                <a16:creationId xmlns:a16="http://schemas.microsoft.com/office/drawing/2014/main" id="{D69C051B-CA85-A230-924D-8FF92F7AC7C2}"/>
              </a:ext>
            </a:extLst>
          </p:cNvPr>
          <p:cNvSpPr>
            <a:spLocks noChangeArrowheads="1"/>
          </p:cNvSpPr>
          <p:nvPr/>
        </p:nvSpPr>
        <p:spPr bwMode="auto">
          <a:xfrm>
            <a:off x="762000" y="1333531"/>
            <a:ext cx="11096625"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000" b="1" dirty="0"/>
              <a:t>1. Conversational User Interface (UI)</a:t>
            </a:r>
            <a:endParaRPr lang="en-US" sz="2000" dirty="0"/>
          </a:p>
          <a:p>
            <a:pPr algn="just"/>
            <a:r>
              <a:rPr lang="en-US" sz="2000" dirty="0"/>
              <a:t>    Handles patient interaction through text (web chat), voice (browser speech   API).</a:t>
            </a:r>
          </a:p>
          <a:p>
            <a:pPr algn="just"/>
            <a:r>
              <a:rPr lang="en-US" sz="2000" dirty="0"/>
              <a:t>    Captures user queries and displays AI responses in real time.</a:t>
            </a:r>
          </a:p>
          <a:p>
            <a:pPr algn="just"/>
            <a:r>
              <a:rPr lang="en-US" sz="2000" b="1" dirty="0"/>
              <a:t>2. Telephony Integration Module</a:t>
            </a:r>
            <a:endParaRPr lang="en-US" sz="2000" dirty="0"/>
          </a:p>
          <a:p>
            <a:pPr algn="just"/>
            <a:r>
              <a:rPr lang="en-US" sz="2000" dirty="0"/>
              <a:t>    Connects phone calls to the system using </a:t>
            </a:r>
            <a:r>
              <a:rPr lang="en-US" sz="2000" dirty="0" err="1"/>
              <a:t>Exotel</a:t>
            </a:r>
            <a:r>
              <a:rPr lang="en-US" sz="2000" dirty="0"/>
              <a:t> webhooks.</a:t>
            </a:r>
          </a:p>
          <a:p>
            <a:pPr algn="just"/>
            <a:r>
              <a:rPr lang="en-US" sz="2000" dirty="0"/>
              <a:t>    Converts speech input into text and relays responses via automated voice.</a:t>
            </a:r>
          </a:p>
          <a:p>
            <a:pPr algn="just"/>
            <a:r>
              <a:rPr lang="en-US" sz="2000" b="1" dirty="0"/>
              <a:t>3. AI Orchestrator / LLM Gateway</a:t>
            </a:r>
            <a:endParaRPr lang="en-US" sz="2000" dirty="0"/>
          </a:p>
          <a:p>
            <a:pPr algn="just"/>
            <a:r>
              <a:rPr lang="en-US" sz="2000" dirty="0"/>
              <a:t>    Sends user queries and conversation history to the Large Language Model.</a:t>
            </a:r>
          </a:p>
          <a:p>
            <a:pPr algn="just"/>
            <a:r>
              <a:rPr lang="en-US" sz="2000" dirty="0"/>
              <a:t>    Interprets model responses and triggers the correct backend microservice.</a:t>
            </a:r>
          </a:p>
          <a:p>
            <a:pPr algn="just"/>
            <a:r>
              <a:rPr lang="en-US" sz="2000" b="1" dirty="0"/>
              <a:t>4. Tool-Based Serverless Microservices</a:t>
            </a:r>
            <a:endParaRPr lang="en-US" sz="2000" dirty="0"/>
          </a:p>
          <a:p>
            <a:pPr algn="just"/>
            <a:r>
              <a:rPr lang="en-US" sz="2000" dirty="0"/>
              <a:t>    Independent functions for booking, rescheduling, cancelling &amp; retrieving doctor details.</a:t>
            </a:r>
          </a:p>
          <a:p>
            <a:pPr algn="just"/>
            <a:r>
              <a:rPr lang="en-US" sz="2000" dirty="0"/>
              <a:t>    Ensures modularity, scalability, and secure backend execution.</a:t>
            </a:r>
          </a:p>
          <a:p>
            <a:pPr algn="just"/>
            <a:r>
              <a:rPr lang="en-US" sz="2000" b="1" dirty="0"/>
              <a:t>5. Database &amp; Transaction Manager (PostgreSQL – </a:t>
            </a:r>
            <a:r>
              <a:rPr lang="en-US" sz="2000" b="1" dirty="0" err="1"/>
              <a:t>Supabase</a:t>
            </a:r>
            <a:r>
              <a:rPr lang="en-US" sz="2000" b="1" dirty="0"/>
              <a:t>)</a:t>
            </a:r>
            <a:endParaRPr lang="en-US" sz="2000" dirty="0"/>
          </a:p>
          <a:p>
            <a:pPr algn="just"/>
            <a:r>
              <a:rPr lang="en-US" sz="2000" dirty="0"/>
              <a:t>    Stores doctors, appointments, patient data, and logs with ACID consistency.</a:t>
            </a:r>
          </a:p>
          <a:p>
            <a:pPr algn="just"/>
            <a:r>
              <a:rPr lang="en-US" sz="2000" dirty="0"/>
              <a:t>    Prevents double-booking using constraints and transactional workflows.</a:t>
            </a:r>
          </a:p>
          <a:p>
            <a:pPr algn="just"/>
            <a:endParaRPr lang="en-US" sz="2000" dirty="0"/>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85627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F4DF1-D980-1A62-B4C8-BC179C812846}"/>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F246E064-82AF-944B-38B5-AB6D24363BE2}"/>
              </a:ext>
            </a:extLst>
          </p:cNvPr>
          <p:cNvGrpSpPr/>
          <p:nvPr/>
        </p:nvGrpSpPr>
        <p:grpSpPr>
          <a:xfrm>
            <a:off x="0" y="0"/>
            <a:ext cx="12192000" cy="6858000"/>
            <a:chOff x="0" y="0"/>
            <a:chExt cx="12192000" cy="6858000"/>
          </a:xfrm>
        </p:grpSpPr>
        <p:pic>
          <p:nvPicPr>
            <p:cNvPr id="3" name="object 3">
              <a:extLst>
                <a:ext uri="{FF2B5EF4-FFF2-40B4-BE49-F238E27FC236}">
                  <a16:creationId xmlns:a16="http://schemas.microsoft.com/office/drawing/2014/main" id="{08E37F3E-6721-0375-83DB-2D188EBE660C}"/>
                </a:ext>
              </a:extLst>
            </p:cNvPr>
            <p:cNvPicPr/>
            <p:nvPr/>
          </p:nvPicPr>
          <p:blipFill>
            <a:blip r:embed="rId2" cstate="print"/>
            <a:stretch>
              <a:fillRect/>
            </a:stretch>
          </p:blipFill>
          <p:spPr>
            <a:xfrm>
              <a:off x="0" y="0"/>
              <a:ext cx="12192000" cy="6858000"/>
            </a:xfrm>
            <a:prstGeom prst="rect">
              <a:avLst/>
            </a:prstGeom>
          </p:spPr>
        </p:pic>
        <p:pic>
          <p:nvPicPr>
            <p:cNvPr id="4" name="object 4">
              <a:extLst>
                <a:ext uri="{FF2B5EF4-FFF2-40B4-BE49-F238E27FC236}">
                  <a16:creationId xmlns:a16="http://schemas.microsoft.com/office/drawing/2014/main" id="{440C9799-DC76-C7F3-2F43-0375BD55D1B9}"/>
                </a:ext>
              </a:extLst>
            </p:cNvPr>
            <p:cNvPicPr/>
            <p:nvPr/>
          </p:nvPicPr>
          <p:blipFill>
            <a:blip r:embed="rId3" cstate="print"/>
            <a:stretch>
              <a:fillRect/>
            </a:stretch>
          </p:blipFill>
          <p:spPr>
            <a:xfrm>
              <a:off x="0" y="0"/>
              <a:ext cx="12172950" cy="6858000"/>
            </a:xfrm>
            <a:prstGeom prst="rect">
              <a:avLst/>
            </a:prstGeom>
          </p:spPr>
        </p:pic>
        <p:pic>
          <p:nvPicPr>
            <p:cNvPr id="5" name="object 5">
              <a:extLst>
                <a:ext uri="{FF2B5EF4-FFF2-40B4-BE49-F238E27FC236}">
                  <a16:creationId xmlns:a16="http://schemas.microsoft.com/office/drawing/2014/main" id="{CD8997E9-4F3D-EE25-CF03-20BF2C540158}"/>
                </a:ext>
              </a:extLst>
            </p:cNvPr>
            <p:cNvPicPr/>
            <p:nvPr/>
          </p:nvPicPr>
          <p:blipFill>
            <a:blip r:embed="rId4" cstate="print"/>
            <a:stretch>
              <a:fillRect/>
            </a:stretch>
          </p:blipFill>
          <p:spPr>
            <a:xfrm>
              <a:off x="9772650" y="161925"/>
              <a:ext cx="2181225" cy="600075"/>
            </a:xfrm>
            <a:prstGeom prst="rect">
              <a:avLst/>
            </a:prstGeom>
          </p:spPr>
        </p:pic>
      </p:grpSp>
      <p:sp>
        <p:nvSpPr>
          <p:cNvPr id="6" name="object 6">
            <a:extLst>
              <a:ext uri="{FF2B5EF4-FFF2-40B4-BE49-F238E27FC236}">
                <a16:creationId xmlns:a16="http://schemas.microsoft.com/office/drawing/2014/main" id="{9CDF2795-CC39-7D7D-77EF-83FED8F565CA}"/>
              </a:ext>
            </a:extLst>
          </p:cNvPr>
          <p:cNvSpPr txBox="1">
            <a:spLocks noGrp="1"/>
          </p:cNvSpPr>
          <p:nvPr>
            <p:ph type="title"/>
          </p:nvPr>
        </p:nvSpPr>
        <p:spPr>
          <a:xfrm>
            <a:off x="762000" y="356184"/>
            <a:ext cx="6375717" cy="811631"/>
          </a:xfrm>
          <a:prstGeom prst="rect">
            <a:avLst/>
          </a:prstGeom>
        </p:spPr>
        <p:txBody>
          <a:bodyPr vert="horz" wrap="square" lIns="0" tIns="255142" rIns="0" bIns="0" rtlCol="0">
            <a:spAutoFit/>
          </a:bodyPr>
          <a:lstStyle/>
          <a:p>
            <a:pPr marL="12700">
              <a:lnSpc>
                <a:spcPct val="100000"/>
              </a:lnSpc>
              <a:spcBef>
                <a:spcPts val="130"/>
              </a:spcBef>
            </a:pPr>
            <a:r>
              <a:rPr lang="en-IN" sz="3600" b="1" dirty="0">
                <a:latin typeface="Times New Roman" panose="02020603050405020304" pitchFamily="18" charset="0"/>
                <a:cs typeface="Times New Roman" panose="02020603050405020304" pitchFamily="18" charset="0"/>
              </a:rPr>
              <a:t>SAHAY – Module Division</a:t>
            </a:r>
            <a:endParaRPr sz="3600" b="1" dirty="0">
              <a:solidFill>
                <a:srgbClr val="0070C0"/>
              </a:solidFill>
              <a:latin typeface="Times New Roman" panose="02020603050405020304" pitchFamily="18" charset="0"/>
              <a:cs typeface="Times New Roman" panose="02020603050405020304" pitchFamily="18" charset="0"/>
            </a:endParaRPr>
          </a:p>
        </p:txBody>
      </p:sp>
      <p:sp>
        <p:nvSpPr>
          <p:cNvPr id="15" name="object 7">
            <a:extLst>
              <a:ext uri="{FF2B5EF4-FFF2-40B4-BE49-F238E27FC236}">
                <a16:creationId xmlns:a16="http://schemas.microsoft.com/office/drawing/2014/main" id="{B3579028-EE8D-CD95-2A90-7A400F30F09E}"/>
              </a:ext>
            </a:extLst>
          </p:cNvPr>
          <p:cNvSpPr txBox="1"/>
          <p:nvPr/>
        </p:nvSpPr>
        <p:spPr>
          <a:xfrm>
            <a:off x="1445640" y="3211068"/>
            <a:ext cx="10471651" cy="248914"/>
          </a:xfrm>
          <a:prstGeom prst="rect">
            <a:avLst/>
          </a:prstGeom>
        </p:spPr>
        <p:txBody>
          <a:bodyPr vert="horz" wrap="square" lIns="0" tIns="6350" rIns="0" bIns="0" rtlCol="0">
            <a:spAutoFit/>
          </a:bodyPr>
          <a:lstStyle/>
          <a:p>
            <a:pPr marL="12700" marR="5080" algn="just">
              <a:lnSpc>
                <a:spcPct val="102400"/>
              </a:lnSpc>
              <a:spcBef>
                <a:spcPts val="50"/>
              </a:spcBef>
            </a:pPr>
            <a:endParaRPr lang="en-US" sz="1600" dirty="0">
              <a:latin typeface="Calibri"/>
              <a:cs typeface="Calibri"/>
            </a:endParaRPr>
          </a:p>
        </p:txBody>
      </p:sp>
      <p:sp>
        <p:nvSpPr>
          <p:cNvPr id="16" name="Rectangle 2">
            <a:extLst>
              <a:ext uri="{FF2B5EF4-FFF2-40B4-BE49-F238E27FC236}">
                <a16:creationId xmlns:a16="http://schemas.microsoft.com/office/drawing/2014/main" id="{77ABBFA4-083D-45B2-F5AC-A18560C43134}"/>
              </a:ext>
            </a:extLst>
          </p:cNvPr>
          <p:cNvSpPr>
            <a:spLocks noChangeArrowheads="1"/>
          </p:cNvSpPr>
          <p:nvPr/>
        </p:nvSpPr>
        <p:spPr bwMode="auto">
          <a:xfrm>
            <a:off x="704081" y="1563231"/>
            <a:ext cx="10134600"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200" b="1" dirty="0"/>
              <a:t>6. Admin Dashboard Module</a:t>
            </a:r>
            <a:endParaRPr lang="en-US" sz="2200" dirty="0"/>
          </a:p>
          <a:p>
            <a:r>
              <a:rPr lang="en-US" sz="2200" dirty="0"/>
              <a:t>    Allows hospital staff to monitor appointments, check availability &amp; filter data</a:t>
            </a:r>
          </a:p>
          <a:p>
            <a:r>
              <a:rPr lang="en-US" sz="2200" dirty="0"/>
              <a:t>    Provides real-time management and complete operational visibility.</a:t>
            </a:r>
          </a:p>
          <a:p>
            <a:r>
              <a:rPr lang="en-US" sz="2200" b="1" dirty="0"/>
              <a:t>7. Security &amp; Access Control Module</a:t>
            </a:r>
            <a:endParaRPr lang="en-US" sz="2200" dirty="0"/>
          </a:p>
          <a:p>
            <a:r>
              <a:rPr lang="en-US" sz="2200" dirty="0"/>
              <a:t>    Manages admin login, role-based access encrypted  data handling.</a:t>
            </a:r>
          </a:p>
          <a:p>
            <a:r>
              <a:rPr lang="en-US" sz="2200" dirty="0"/>
              <a:t>    Protects sensitive patient and appointment records.</a:t>
            </a:r>
          </a:p>
          <a:p>
            <a:r>
              <a:rPr lang="en-US" sz="2200" b="1" dirty="0"/>
              <a:t>8. Logging, Monitoring &amp; Analytics Module</a:t>
            </a:r>
            <a:endParaRPr lang="en-US" sz="2200" dirty="0"/>
          </a:p>
          <a:p>
            <a:r>
              <a:rPr lang="en-US" sz="2200" dirty="0"/>
              <a:t>    Tracks system performance, errors, function calls, and telephony logs.</a:t>
            </a:r>
          </a:p>
          <a:p>
            <a:r>
              <a:rPr lang="en-US" sz="2200" dirty="0"/>
              <a:t>    Supports debugging and generates insights for performance improvement.</a:t>
            </a:r>
          </a:p>
          <a:p>
            <a:r>
              <a:rPr lang="en-US" sz="2200" b="1" dirty="0"/>
              <a:t>9. Notification &amp; Reminder Module</a:t>
            </a:r>
            <a:endParaRPr lang="en-US" sz="2200" dirty="0"/>
          </a:p>
          <a:p>
            <a:r>
              <a:rPr lang="en-US" sz="2200" dirty="0"/>
              <a:t>    Sends confirmation messages and appointment reminders via SMS/voice.</a:t>
            </a:r>
          </a:p>
          <a:p>
            <a:r>
              <a:rPr lang="en-US" sz="2200" dirty="0"/>
              <a:t>    Improves patient engagement and reduces missed appointments.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84983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21816-B299-697B-DB22-13792299B99F}"/>
              </a:ext>
            </a:extLst>
          </p:cNvPr>
          <p:cNvSpPr>
            <a:spLocks noGrp="1"/>
          </p:cNvSpPr>
          <p:nvPr>
            <p:ph type="title"/>
          </p:nvPr>
        </p:nvSpPr>
        <p:spPr>
          <a:xfrm>
            <a:off x="838200" y="457200"/>
            <a:ext cx="6375717" cy="1354217"/>
          </a:xfrm>
        </p:spPr>
        <p:txBody>
          <a:bodyPr/>
          <a:lstStyle/>
          <a:p>
            <a:r>
              <a:rPr lang="en-US" altLang="en-IN" b="1" dirty="0">
                <a:solidFill>
                  <a:srgbClr val="0070C0"/>
                </a:solidFill>
                <a:latin typeface="Times New Roman" panose="02020603050405020304" pitchFamily="18" charset="0"/>
                <a:cs typeface="Times New Roman" panose="02020603050405020304" pitchFamily="18" charset="0"/>
              </a:rPr>
              <a:t>Dataset Details</a:t>
            </a:r>
            <a:br>
              <a:rPr lang="en-US" altLang="en-IN" b="1" dirty="0">
                <a:solidFill>
                  <a:srgbClr val="0070C0"/>
                </a:solidFill>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3FEDD15F-ADD4-09C2-EAF0-EB9E80AA9FEC}"/>
              </a:ext>
            </a:extLst>
          </p:cNvPr>
          <p:cNvSpPr>
            <a:spLocks noGrp="1" noChangeArrowheads="1"/>
          </p:cNvSpPr>
          <p:nvPr>
            <p:ph type="body" idx="1"/>
          </p:nvPr>
        </p:nvSpPr>
        <p:spPr bwMode="auto">
          <a:xfrm>
            <a:off x="609600" y="1431667"/>
            <a:ext cx="5105400"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rPr>
              <a:t>Doctor Table:</a:t>
            </a:r>
            <a:endParaRPr kumimoji="0" lang="en-US" altLang="en-US" sz="6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What it is: </a:t>
            </a:r>
            <a:r>
              <a:rPr kumimoji="0" lang="en-US" altLang="en-US" sz="2400" b="0" i="0" u="none" strike="noStrike" cap="none" normalizeH="0" baseline="0" dirty="0">
                <a:ln>
                  <a:noFill/>
                </a:ln>
                <a:solidFill>
                  <a:schemeClr val="tx1"/>
                </a:solidFill>
                <a:effectLst/>
                <a:latin typeface="Arial" panose="020B0604020202020204" pitchFamily="34" charset="0"/>
              </a:rPr>
              <a:t>A directory of all doctors.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Contains: </a:t>
            </a:r>
            <a:r>
              <a:rPr kumimoji="0" lang="en-US" altLang="en-US" sz="2400" b="0" i="0" u="none" strike="noStrike" cap="none" normalizeH="0" baseline="0" dirty="0">
                <a:ln>
                  <a:noFill/>
                </a:ln>
                <a:solidFill>
                  <a:schemeClr val="tx1"/>
                </a:solidFill>
                <a:effectLst/>
                <a:latin typeface="Arial" panose="020B0604020202020204" pitchFamily="34" charset="0"/>
              </a:rPr>
              <a:t>Doctor's Name and </a:t>
            </a:r>
            <a:r>
              <a:rPr kumimoji="0" lang="en-US" altLang="en-US" sz="2400" b="0" i="0" u="none" strike="noStrike" cap="none" normalizeH="0" baseline="0" dirty="0" err="1">
                <a:ln>
                  <a:noFill/>
                </a:ln>
                <a:solidFill>
                  <a:schemeClr val="tx1"/>
                </a:solidFill>
                <a:effectLst/>
                <a:latin typeface="Arial" panose="020B0604020202020204" pitchFamily="34" charset="0"/>
              </a:rPr>
              <a:t>Speciality</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Appointment Table: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What it is: </a:t>
            </a:r>
            <a:r>
              <a:rPr kumimoji="0" lang="en-US" altLang="en-US" sz="2400" b="0" i="0" u="none" strike="noStrike" cap="none" normalizeH="0" baseline="0" dirty="0">
                <a:ln>
                  <a:noFill/>
                </a:ln>
                <a:solidFill>
                  <a:schemeClr val="tx1"/>
                </a:solidFill>
                <a:effectLst/>
                <a:latin typeface="Arial" panose="020B0604020202020204" pitchFamily="34" charset="0"/>
              </a:rPr>
              <a:t>A log of all bookings.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Arial" panose="020B0604020202020204" pitchFamily="34" charset="0"/>
              </a:rPr>
              <a:t>Contains: </a:t>
            </a:r>
            <a:r>
              <a:rPr kumimoji="0" lang="en-US" altLang="en-US" sz="2400" b="0" i="0" u="none" strike="noStrike" cap="none" normalizeH="0" baseline="0" dirty="0">
                <a:ln>
                  <a:noFill/>
                </a:ln>
                <a:solidFill>
                  <a:schemeClr val="tx1"/>
                </a:solidFill>
                <a:effectLst/>
                <a:latin typeface="Arial" panose="020B0604020202020204" pitchFamily="34" charset="0"/>
              </a:rPr>
              <a:t>Patient's Name, Patient's Phone, Appointment Time, and Status ('confirmed' or 'cancelled').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A49A4706-798B-FCE8-CBF2-A7B7C683A8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7400" y="1431667"/>
            <a:ext cx="5715000" cy="3902333"/>
          </a:xfrm>
          <a:prstGeom prst="rect">
            <a:avLst/>
          </a:prstGeom>
        </p:spPr>
      </p:pic>
      <p:grpSp>
        <p:nvGrpSpPr>
          <p:cNvPr id="3" name="object 2">
            <a:extLst>
              <a:ext uri="{FF2B5EF4-FFF2-40B4-BE49-F238E27FC236}">
                <a16:creationId xmlns:a16="http://schemas.microsoft.com/office/drawing/2014/main" id="{5635443D-4397-18EB-3B89-70DFDBE3FB1C}"/>
              </a:ext>
            </a:extLst>
          </p:cNvPr>
          <p:cNvGrpSpPr/>
          <p:nvPr/>
        </p:nvGrpSpPr>
        <p:grpSpPr>
          <a:xfrm>
            <a:off x="0" y="0"/>
            <a:ext cx="12192000" cy="6858000"/>
            <a:chOff x="0" y="0"/>
            <a:chExt cx="12192000" cy="6858000"/>
          </a:xfrm>
        </p:grpSpPr>
        <p:pic>
          <p:nvPicPr>
            <p:cNvPr id="5" name="object 3">
              <a:extLst>
                <a:ext uri="{FF2B5EF4-FFF2-40B4-BE49-F238E27FC236}">
                  <a16:creationId xmlns:a16="http://schemas.microsoft.com/office/drawing/2014/main" id="{2A5ED188-0015-DCDE-12BE-7923114A17F3}"/>
                </a:ext>
              </a:extLst>
            </p:cNvPr>
            <p:cNvPicPr/>
            <p:nvPr/>
          </p:nvPicPr>
          <p:blipFill>
            <a:blip r:embed="rId3" cstate="print"/>
            <a:stretch>
              <a:fillRect/>
            </a:stretch>
          </p:blipFill>
          <p:spPr>
            <a:xfrm>
              <a:off x="0" y="0"/>
              <a:ext cx="12192000" cy="6858000"/>
            </a:xfrm>
            <a:prstGeom prst="rect">
              <a:avLst/>
            </a:prstGeom>
          </p:spPr>
        </p:pic>
        <p:pic>
          <p:nvPicPr>
            <p:cNvPr id="6" name="object 4">
              <a:extLst>
                <a:ext uri="{FF2B5EF4-FFF2-40B4-BE49-F238E27FC236}">
                  <a16:creationId xmlns:a16="http://schemas.microsoft.com/office/drawing/2014/main" id="{23B543CC-A628-EFB1-A7B9-8EA9D52F5D8A}"/>
                </a:ext>
              </a:extLst>
            </p:cNvPr>
            <p:cNvPicPr/>
            <p:nvPr/>
          </p:nvPicPr>
          <p:blipFill>
            <a:blip r:embed="rId4" cstate="print"/>
            <a:stretch>
              <a:fillRect/>
            </a:stretch>
          </p:blipFill>
          <p:spPr>
            <a:xfrm>
              <a:off x="0" y="0"/>
              <a:ext cx="12172950" cy="6858000"/>
            </a:xfrm>
            <a:prstGeom prst="rect">
              <a:avLst/>
            </a:prstGeom>
          </p:spPr>
        </p:pic>
        <p:pic>
          <p:nvPicPr>
            <p:cNvPr id="7" name="object 5">
              <a:extLst>
                <a:ext uri="{FF2B5EF4-FFF2-40B4-BE49-F238E27FC236}">
                  <a16:creationId xmlns:a16="http://schemas.microsoft.com/office/drawing/2014/main" id="{25153209-DD74-3CCD-B049-39D2D6A1F27A}"/>
                </a:ext>
              </a:extLst>
            </p:cNvPr>
            <p:cNvPicPr/>
            <p:nvPr/>
          </p:nvPicPr>
          <p:blipFill>
            <a:blip r:embed="rId5" cstate="print"/>
            <a:stretch>
              <a:fillRect/>
            </a:stretch>
          </p:blipFill>
          <p:spPr>
            <a:xfrm>
              <a:off x="9772650" y="161925"/>
              <a:ext cx="2181225" cy="600075"/>
            </a:xfrm>
            <a:prstGeom prst="rect">
              <a:avLst/>
            </a:prstGeom>
          </p:spPr>
        </p:pic>
      </p:grpSp>
    </p:spTree>
    <p:extLst>
      <p:ext uri="{BB962C8B-B14F-4D97-AF65-F5344CB8AC3E}">
        <p14:creationId xmlns:p14="http://schemas.microsoft.com/office/powerpoint/2010/main" val="1336232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70EA1-699D-A256-CCB8-70CA8114A127}"/>
              </a:ext>
            </a:extLst>
          </p:cNvPr>
          <p:cNvSpPr>
            <a:spLocks noGrp="1"/>
          </p:cNvSpPr>
          <p:nvPr>
            <p:ph type="title"/>
          </p:nvPr>
        </p:nvSpPr>
        <p:spPr>
          <a:xfrm>
            <a:off x="914400" y="609600"/>
            <a:ext cx="6375717" cy="838200"/>
          </a:xfrm>
        </p:spPr>
        <p:txBody>
          <a:bodyPr/>
          <a:lstStyle/>
          <a:p>
            <a:r>
              <a:rPr lang="en-US" dirty="0">
                <a:solidFill>
                  <a:srgbClr val="0070C0"/>
                </a:solidFill>
                <a:latin typeface="Times New Roman" panose="02020603050405020304" pitchFamily="18" charset="0"/>
                <a:cs typeface="Times New Roman" panose="02020603050405020304" pitchFamily="18" charset="0"/>
              </a:rPr>
              <a:t>Conclusion</a:t>
            </a:r>
            <a:br>
              <a:rPr lang="en-US" dirty="0">
                <a:solidFill>
                  <a:srgbClr val="0070C0"/>
                </a:solidFill>
                <a:latin typeface="Times New Roman" panose="02020603050405020304" pitchFamily="18" charset="0"/>
                <a:cs typeface="Times New Roman" panose="02020603050405020304" pitchFamily="18" charset="0"/>
              </a:rPr>
            </a:br>
            <a:endParaRPr lang="en-IN" dirty="0"/>
          </a:p>
        </p:txBody>
      </p:sp>
      <p:sp>
        <p:nvSpPr>
          <p:cNvPr id="3" name="Text Placeholder 2">
            <a:extLst>
              <a:ext uri="{FF2B5EF4-FFF2-40B4-BE49-F238E27FC236}">
                <a16:creationId xmlns:a16="http://schemas.microsoft.com/office/drawing/2014/main" id="{ABE08B56-03CB-DA55-0A76-8E2882EFC636}"/>
              </a:ext>
            </a:extLst>
          </p:cNvPr>
          <p:cNvSpPr>
            <a:spLocks noGrp="1"/>
          </p:cNvSpPr>
          <p:nvPr>
            <p:ph type="body" idx="1"/>
          </p:nvPr>
        </p:nvSpPr>
        <p:spPr>
          <a:xfrm>
            <a:off x="914400" y="1600200"/>
            <a:ext cx="10114915" cy="4855175"/>
          </a:xfrm>
        </p:spPr>
        <p:txBody>
          <a:bodyPr/>
          <a:lstStyle/>
          <a:p>
            <a:r>
              <a:rPr lang="en-US" sz="2400" dirty="0"/>
              <a:t>Project Sahay is a comprehensive AI-powered health assistant designed to streamline hospital operations and improve patient experience. It automates the full appointment lifecycle—booking, rescheduling, and cancellation—through both web and telephone interfaces, making healthcare services more accessible and convenient. Its architecture, based on serverless microservices, ensures scalability, security, and resilience, while the tool-augmented AI intelligently interacts with backend systems without compromising safety. Real-time voice interaction, multi-channel access, and a user-friendly administrative dashboard enable seamless communication between patients and hospital staff. Overall, Project Sahay is a future-ready solution that combines cutting-edge AI, reliable transactional databases, and robust system design to deliver efficiency, accuracy, and a superior healthcare experience.</a:t>
            </a:r>
          </a:p>
          <a:p>
            <a:endParaRPr lang="en-IN" sz="2400" dirty="0"/>
          </a:p>
        </p:txBody>
      </p:sp>
      <p:grpSp>
        <p:nvGrpSpPr>
          <p:cNvPr id="4" name="object 2">
            <a:extLst>
              <a:ext uri="{FF2B5EF4-FFF2-40B4-BE49-F238E27FC236}">
                <a16:creationId xmlns:a16="http://schemas.microsoft.com/office/drawing/2014/main" id="{77B4CC3E-FCDD-6C46-3B96-7CC49AA245BD}"/>
              </a:ext>
            </a:extLst>
          </p:cNvPr>
          <p:cNvGrpSpPr/>
          <p:nvPr/>
        </p:nvGrpSpPr>
        <p:grpSpPr>
          <a:xfrm>
            <a:off x="0" y="0"/>
            <a:ext cx="12192000" cy="6858000"/>
            <a:chOff x="0" y="0"/>
            <a:chExt cx="12192000" cy="6858000"/>
          </a:xfrm>
        </p:grpSpPr>
        <p:pic>
          <p:nvPicPr>
            <p:cNvPr id="5" name="object 3">
              <a:extLst>
                <a:ext uri="{FF2B5EF4-FFF2-40B4-BE49-F238E27FC236}">
                  <a16:creationId xmlns:a16="http://schemas.microsoft.com/office/drawing/2014/main" id="{E74DC81E-17DC-6FD6-CD13-005566A6C08A}"/>
                </a:ext>
              </a:extLst>
            </p:cNvPr>
            <p:cNvPicPr/>
            <p:nvPr/>
          </p:nvPicPr>
          <p:blipFill>
            <a:blip r:embed="rId2" cstate="print"/>
            <a:stretch>
              <a:fillRect/>
            </a:stretch>
          </p:blipFill>
          <p:spPr>
            <a:xfrm>
              <a:off x="0" y="0"/>
              <a:ext cx="12192000" cy="6858000"/>
            </a:xfrm>
            <a:prstGeom prst="rect">
              <a:avLst/>
            </a:prstGeom>
          </p:spPr>
        </p:pic>
        <p:pic>
          <p:nvPicPr>
            <p:cNvPr id="6" name="object 4">
              <a:extLst>
                <a:ext uri="{FF2B5EF4-FFF2-40B4-BE49-F238E27FC236}">
                  <a16:creationId xmlns:a16="http://schemas.microsoft.com/office/drawing/2014/main" id="{F1C49861-FC10-9216-F452-799DEFE0F6C7}"/>
                </a:ext>
              </a:extLst>
            </p:cNvPr>
            <p:cNvPicPr/>
            <p:nvPr/>
          </p:nvPicPr>
          <p:blipFill>
            <a:blip r:embed="rId3" cstate="print"/>
            <a:stretch>
              <a:fillRect/>
            </a:stretch>
          </p:blipFill>
          <p:spPr>
            <a:xfrm>
              <a:off x="0" y="0"/>
              <a:ext cx="12172950" cy="6858000"/>
            </a:xfrm>
            <a:prstGeom prst="rect">
              <a:avLst/>
            </a:prstGeom>
          </p:spPr>
        </p:pic>
        <p:pic>
          <p:nvPicPr>
            <p:cNvPr id="7" name="object 5">
              <a:extLst>
                <a:ext uri="{FF2B5EF4-FFF2-40B4-BE49-F238E27FC236}">
                  <a16:creationId xmlns:a16="http://schemas.microsoft.com/office/drawing/2014/main" id="{F63B2581-904F-244E-CAC8-FF055FF72B56}"/>
                </a:ext>
              </a:extLst>
            </p:cNvPr>
            <p:cNvPicPr/>
            <p:nvPr/>
          </p:nvPicPr>
          <p:blipFill>
            <a:blip r:embed="rId4" cstate="print"/>
            <a:stretch>
              <a:fillRect/>
            </a:stretch>
          </p:blipFill>
          <p:spPr>
            <a:xfrm>
              <a:off x="9772650" y="161925"/>
              <a:ext cx="2181225" cy="600075"/>
            </a:xfrm>
            <a:prstGeom prst="rect">
              <a:avLst/>
            </a:prstGeom>
          </p:spPr>
        </p:pic>
      </p:grpSp>
    </p:spTree>
    <p:extLst>
      <p:ext uri="{BB962C8B-B14F-4D97-AF65-F5344CB8AC3E}">
        <p14:creationId xmlns:p14="http://schemas.microsoft.com/office/powerpoint/2010/main" val="773931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36084" y="2891472"/>
            <a:ext cx="3650615" cy="1021080"/>
          </a:xfrm>
          <a:prstGeom prst="rect">
            <a:avLst/>
          </a:prstGeom>
        </p:spPr>
        <p:txBody>
          <a:bodyPr vert="horz" wrap="square" lIns="0" tIns="16510" rIns="0" bIns="0" rtlCol="0">
            <a:spAutoFit/>
          </a:bodyPr>
          <a:lstStyle/>
          <a:p>
            <a:pPr marL="12700">
              <a:lnSpc>
                <a:spcPct val="100000"/>
              </a:lnSpc>
              <a:spcBef>
                <a:spcPts val="130"/>
              </a:spcBef>
            </a:pPr>
            <a:r>
              <a:rPr sz="6500" b="1" spc="-10" dirty="0">
                <a:solidFill>
                  <a:srgbClr val="006FC0"/>
                </a:solidFill>
                <a:latin typeface="Times New Roman"/>
                <a:cs typeface="Times New Roman"/>
              </a:rPr>
              <a:t>Thankyou</a:t>
            </a:r>
            <a:endParaRPr sz="650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8000"/>
            </a:xfrm>
            <a:prstGeom prst="rect">
              <a:avLst/>
            </a:prstGeom>
          </p:spPr>
        </p:pic>
        <p:pic>
          <p:nvPicPr>
            <p:cNvPr id="4" name="object 4"/>
            <p:cNvPicPr/>
            <p:nvPr/>
          </p:nvPicPr>
          <p:blipFill>
            <a:blip r:embed="rId3" cstate="print"/>
            <a:stretch>
              <a:fillRect/>
            </a:stretch>
          </p:blipFill>
          <p:spPr>
            <a:xfrm>
              <a:off x="0" y="0"/>
              <a:ext cx="12192000" cy="6858000"/>
            </a:xfrm>
            <a:prstGeom prst="rect">
              <a:avLst/>
            </a:prstGeom>
          </p:spPr>
        </p:pic>
        <p:pic>
          <p:nvPicPr>
            <p:cNvPr id="5" name="object 5"/>
            <p:cNvPicPr/>
            <p:nvPr/>
          </p:nvPicPr>
          <p:blipFill>
            <a:blip r:embed="rId4" cstate="print"/>
            <a:stretch>
              <a:fillRect/>
            </a:stretch>
          </p:blipFill>
          <p:spPr>
            <a:xfrm>
              <a:off x="9772650" y="161925"/>
              <a:ext cx="2181225" cy="600075"/>
            </a:xfrm>
            <a:prstGeom prst="rect">
              <a:avLst/>
            </a:prstGeom>
          </p:spPr>
        </p:pic>
      </p:grpSp>
      <p:sp>
        <p:nvSpPr>
          <p:cNvPr id="6" name="object 6"/>
          <p:cNvSpPr txBox="1">
            <a:spLocks noGrp="1"/>
          </p:cNvSpPr>
          <p:nvPr>
            <p:ph type="title"/>
          </p:nvPr>
        </p:nvSpPr>
        <p:spPr>
          <a:xfrm>
            <a:off x="1070497" y="762000"/>
            <a:ext cx="4892358" cy="769377"/>
          </a:xfrm>
          <a:prstGeom prst="rect">
            <a:avLst/>
          </a:prstGeom>
        </p:spPr>
        <p:txBody>
          <a:bodyPr vert="horz" wrap="square" lIns="0" tIns="251396" rIns="0" bIns="0" rtlCol="0">
            <a:spAutoFit/>
          </a:bodyPr>
          <a:lstStyle/>
          <a:p>
            <a:pPr marL="99695">
              <a:lnSpc>
                <a:spcPct val="100000"/>
              </a:lnSpc>
              <a:spcBef>
                <a:spcPts val="125"/>
              </a:spcBef>
            </a:pPr>
            <a:r>
              <a:rPr sz="3350" b="1" spc="-10" dirty="0">
                <a:solidFill>
                  <a:srgbClr val="006FC0"/>
                </a:solidFill>
                <a:latin typeface="Times New Roman"/>
                <a:cs typeface="Times New Roman"/>
              </a:rPr>
              <a:t>Objectives</a:t>
            </a:r>
            <a:endParaRPr sz="3350" dirty="0">
              <a:latin typeface="Times New Roman"/>
              <a:cs typeface="Times New Roman"/>
            </a:endParaRPr>
          </a:p>
        </p:txBody>
      </p:sp>
      <p:sp>
        <p:nvSpPr>
          <p:cNvPr id="7" name="object 7"/>
          <p:cNvSpPr txBox="1"/>
          <p:nvPr/>
        </p:nvSpPr>
        <p:spPr>
          <a:xfrm>
            <a:off x="1038542" y="1998599"/>
            <a:ext cx="9303385" cy="2586355"/>
          </a:xfrm>
          <a:prstGeom prst="rect">
            <a:avLst/>
          </a:prstGeom>
        </p:spPr>
        <p:txBody>
          <a:bodyPr vert="horz" wrap="square" lIns="0" tIns="16510" rIns="0" bIns="0" rtlCol="0">
            <a:spAutoFit/>
          </a:bodyPr>
          <a:lstStyle/>
          <a:p>
            <a:pPr marL="135890" indent="-130175">
              <a:lnSpc>
                <a:spcPct val="100000"/>
              </a:lnSpc>
              <a:spcBef>
                <a:spcPts val="130"/>
              </a:spcBef>
              <a:buSzPct val="96363"/>
              <a:buFont typeface="Arial MT"/>
              <a:buChar char="•"/>
              <a:tabLst>
                <a:tab pos="135890" algn="l"/>
              </a:tabLst>
            </a:pPr>
            <a:r>
              <a:rPr sz="2750" b="1" dirty="0">
                <a:latin typeface="Calibri"/>
                <a:cs typeface="Calibri"/>
              </a:rPr>
              <a:t>Develop</a:t>
            </a:r>
            <a:r>
              <a:rPr sz="2750" b="1" spc="55" dirty="0">
                <a:latin typeface="Calibri"/>
                <a:cs typeface="Calibri"/>
              </a:rPr>
              <a:t> </a:t>
            </a:r>
            <a:r>
              <a:rPr sz="2750" dirty="0">
                <a:latin typeface="Calibri"/>
                <a:cs typeface="Calibri"/>
              </a:rPr>
              <a:t>a highly</a:t>
            </a:r>
            <a:r>
              <a:rPr sz="2750" spc="75" dirty="0">
                <a:latin typeface="Calibri"/>
                <a:cs typeface="Calibri"/>
              </a:rPr>
              <a:t> </a:t>
            </a:r>
            <a:r>
              <a:rPr sz="2750" dirty="0">
                <a:latin typeface="Calibri"/>
                <a:cs typeface="Calibri"/>
              </a:rPr>
              <a:t>accurate</a:t>
            </a:r>
            <a:r>
              <a:rPr sz="2750" spc="25" dirty="0">
                <a:latin typeface="Calibri"/>
                <a:cs typeface="Calibri"/>
              </a:rPr>
              <a:t> </a:t>
            </a:r>
            <a:r>
              <a:rPr sz="2750" dirty="0">
                <a:latin typeface="Calibri"/>
                <a:cs typeface="Calibri"/>
              </a:rPr>
              <a:t>NLP</a:t>
            </a:r>
            <a:r>
              <a:rPr sz="2750" spc="50" dirty="0">
                <a:latin typeface="Calibri"/>
                <a:cs typeface="Calibri"/>
              </a:rPr>
              <a:t> </a:t>
            </a:r>
            <a:r>
              <a:rPr sz="2750" dirty="0">
                <a:latin typeface="Calibri"/>
                <a:cs typeface="Calibri"/>
              </a:rPr>
              <a:t>engine</a:t>
            </a:r>
            <a:r>
              <a:rPr sz="2750" spc="20" dirty="0">
                <a:latin typeface="Calibri"/>
                <a:cs typeface="Calibri"/>
              </a:rPr>
              <a:t> </a:t>
            </a:r>
            <a:r>
              <a:rPr sz="2750" dirty="0">
                <a:latin typeface="Calibri"/>
                <a:cs typeface="Calibri"/>
              </a:rPr>
              <a:t>for</a:t>
            </a:r>
            <a:r>
              <a:rPr sz="2750" spc="65" dirty="0">
                <a:latin typeface="Calibri"/>
                <a:cs typeface="Calibri"/>
              </a:rPr>
              <a:t> </a:t>
            </a:r>
            <a:r>
              <a:rPr sz="2750" dirty="0">
                <a:latin typeface="Calibri"/>
                <a:cs typeface="Calibri"/>
              </a:rPr>
              <a:t>symptom</a:t>
            </a:r>
            <a:r>
              <a:rPr sz="2750" spc="10" dirty="0">
                <a:latin typeface="Calibri"/>
                <a:cs typeface="Calibri"/>
              </a:rPr>
              <a:t> </a:t>
            </a:r>
            <a:r>
              <a:rPr sz="2750" spc="-10" dirty="0">
                <a:latin typeface="Calibri"/>
                <a:cs typeface="Calibri"/>
              </a:rPr>
              <a:t>analysis.</a:t>
            </a:r>
            <a:endParaRPr sz="2750" dirty="0">
              <a:latin typeface="Calibri"/>
              <a:cs typeface="Calibri"/>
            </a:endParaRPr>
          </a:p>
          <a:p>
            <a:pPr marL="135890" indent="-130175">
              <a:lnSpc>
                <a:spcPct val="100000"/>
              </a:lnSpc>
              <a:spcBef>
                <a:spcPts val="80"/>
              </a:spcBef>
              <a:buSzPct val="96363"/>
              <a:buFont typeface="Arial MT"/>
              <a:buChar char="•"/>
              <a:tabLst>
                <a:tab pos="135890" algn="l"/>
              </a:tabLst>
            </a:pPr>
            <a:r>
              <a:rPr sz="2750" b="1" dirty="0">
                <a:latin typeface="Calibri"/>
                <a:cs typeface="Calibri"/>
              </a:rPr>
              <a:t>Build</a:t>
            </a:r>
            <a:r>
              <a:rPr sz="2750" b="1" spc="125" dirty="0">
                <a:latin typeface="Calibri"/>
                <a:cs typeface="Calibri"/>
              </a:rPr>
              <a:t> </a:t>
            </a:r>
            <a:r>
              <a:rPr sz="2750" dirty="0">
                <a:latin typeface="Calibri"/>
                <a:cs typeface="Calibri"/>
              </a:rPr>
              <a:t>a</a:t>
            </a:r>
            <a:r>
              <a:rPr sz="2750" spc="80" dirty="0">
                <a:latin typeface="Calibri"/>
                <a:cs typeface="Calibri"/>
              </a:rPr>
              <a:t> </a:t>
            </a:r>
            <a:r>
              <a:rPr sz="2750" dirty="0">
                <a:latin typeface="Calibri"/>
                <a:cs typeface="Calibri"/>
              </a:rPr>
              <a:t>secure</a:t>
            </a:r>
            <a:r>
              <a:rPr sz="2750" spc="114" dirty="0">
                <a:latin typeface="Calibri"/>
                <a:cs typeface="Calibri"/>
              </a:rPr>
              <a:t> </a:t>
            </a:r>
            <a:r>
              <a:rPr sz="2750" dirty="0">
                <a:latin typeface="Calibri"/>
                <a:cs typeface="Calibri"/>
              </a:rPr>
              <a:t>and</a:t>
            </a:r>
            <a:r>
              <a:rPr sz="2750" spc="95" dirty="0">
                <a:latin typeface="Calibri"/>
                <a:cs typeface="Calibri"/>
              </a:rPr>
              <a:t> </a:t>
            </a:r>
            <a:r>
              <a:rPr sz="2750" dirty="0">
                <a:latin typeface="Calibri"/>
                <a:cs typeface="Calibri"/>
              </a:rPr>
              <a:t>scalable</a:t>
            </a:r>
            <a:r>
              <a:rPr sz="2750" spc="105" dirty="0">
                <a:latin typeface="Calibri"/>
                <a:cs typeface="Calibri"/>
              </a:rPr>
              <a:t> </a:t>
            </a:r>
            <a:r>
              <a:rPr sz="2750" dirty="0">
                <a:latin typeface="Calibri"/>
                <a:cs typeface="Calibri"/>
              </a:rPr>
              <a:t>microservices</a:t>
            </a:r>
            <a:r>
              <a:rPr sz="2750" spc="100" dirty="0">
                <a:latin typeface="Calibri"/>
                <a:cs typeface="Calibri"/>
              </a:rPr>
              <a:t> </a:t>
            </a:r>
            <a:r>
              <a:rPr sz="2750" spc="-10" dirty="0">
                <a:latin typeface="Calibri"/>
                <a:cs typeface="Calibri"/>
              </a:rPr>
              <a:t>platform.</a:t>
            </a:r>
            <a:endParaRPr sz="2750" dirty="0">
              <a:latin typeface="Calibri"/>
              <a:cs typeface="Calibri"/>
            </a:endParaRPr>
          </a:p>
          <a:p>
            <a:pPr marL="135890" indent="-130175">
              <a:lnSpc>
                <a:spcPct val="100000"/>
              </a:lnSpc>
              <a:spcBef>
                <a:spcPts val="80"/>
              </a:spcBef>
              <a:buSzPct val="96363"/>
              <a:buFont typeface="Arial MT"/>
              <a:buChar char="•"/>
              <a:tabLst>
                <a:tab pos="135890" algn="l"/>
              </a:tabLst>
            </a:pPr>
            <a:r>
              <a:rPr sz="2750" b="1" dirty="0">
                <a:latin typeface="Calibri"/>
                <a:cs typeface="Calibri"/>
              </a:rPr>
              <a:t>Ensure</a:t>
            </a:r>
            <a:r>
              <a:rPr sz="2750" b="1" spc="60" dirty="0">
                <a:latin typeface="Calibri"/>
                <a:cs typeface="Calibri"/>
              </a:rPr>
              <a:t> </a:t>
            </a:r>
            <a:r>
              <a:rPr sz="2750" dirty="0">
                <a:latin typeface="Calibri"/>
                <a:cs typeface="Calibri"/>
              </a:rPr>
              <a:t>the</a:t>
            </a:r>
            <a:r>
              <a:rPr sz="2750" spc="55" dirty="0">
                <a:latin typeface="Calibri"/>
                <a:cs typeface="Calibri"/>
              </a:rPr>
              <a:t> </a:t>
            </a:r>
            <a:r>
              <a:rPr sz="2750" dirty="0">
                <a:latin typeface="Calibri"/>
                <a:cs typeface="Calibri"/>
              </a:rPr>
              <a:t>data</a:t>
            </a:r>
            <a:r>
              <a:rPr sz="2750" spc="110" dirty="0">
                <a:latin typeface="Calibri"/>
                <a:cs typeface="Calibri"/>
              </a:rPr>
              <a:t> </a:t>
            </a:r>
            <a:r>
              <a:rPr sz="2750" dirty="0">
                <a:latin typeface="Calibri"/>
                <a:cs typeface="Calibri"/>
              </a:rPr>
              <a:t>architecture</a:t>
            </a:r>
            <a:r>
              <a:rPr sz="2750" spc="60" dirty="0">
                <a:latin typeface="Calibri"/>
                <a:cs typeface="Calibri"/>
              </a:rPr>
              <a:t> </a:t>
            </a:r>
            <a:r>
              <a:rPr sz="2750" dirty="0">
                <a:latin typeface="Calibri"/>
                <a:cs typeface="Calibri"/>
              </a:rPr>
              <a:t>is</a:t>
            </a:r>
            <a:r>
              <a:rPr sz="2750" spc="60" dirty="0">
                <a:latin typeface="Calibri"/>
                <a:cs typeface="Calibri"/>
              </a:rPr>
              <a:t> </a:t>
            </a:r>
            <a:r>
              <a:rPr sz="2750" dirty="0">
                <a:latin typeface="Calibri"/>
                <a:cs typeface="Calibri"/>
              </a:rPr>
              <a:t>fully</a:t>
            </a:r>
            <a:r>
              <a:rPr sz="2750" spc="30" dirty="0">
                <a:latin typeface="Calibri"/>
                <a:cs typeface="Calibri"/>
              </a:rPr>
              <a:t> </a:t>
            </a:r>
            <a:r>
              <a:rPr sz="2750" spc="-20" dirty="0">
                <a:latin typeface="Calibri"/>
                <a:cs typeface="Calibri"/>
              </a:rPr>
              <a:t>HIPAA-</a:t>
            </a:r>
            <a:r>
              <a:rPr sz="2750" spc="-10" dirty="0">
                <a:latin typeface="Calibri"/>
                <a:cs typeface="Calibri"/>
              </a:rPr>
              <a:t>compliant.</a:t>
            </a:r>
            <a:endParaRPr sz="2750" dirty="0">
              <a:latin typeface="Calibri"/>
              <a:cs typeface="Calibri"/>
            </a:endParaRPr>
          </a:p>
          <a:p>
            <a:pPr marL="135890" indent="-130175">
              <a:lnSpc>
                <a:spcPct val="100000"/>
              </a:lnSpc>
              <a:spcBef>
                <a:spcPts val="5"/>
              </a:spcBef>
              <a:buSzPct val="96363"/>
              <a:buFont typeface="Arial MT"/>
              <a:buChar char="•"/>
              <a:tabLst>
                <a:tab pos="135890" algn="l"/>
              </a:tabLst>
            </a:pPr>
            <a:r>
              <a:rPr sz="2750" b="1" dirty="0">
                <a:latin typeface="Calibri"/>
                <a:cs typeface="Calibri"/>
              </a:rPr>
              <a:t>Create</a:t>
            </a:r>
            <a:r>
              <a:rPr sz="2750" b="1" spc="60" dirty="0">
                <a:latin typeface="Calibri"/>
                <a:cs typeface="Calibri"/>
              </a:rPr>
              <a:t> </a:t>
            </a:r>
            <a:r>
              <a:rPr sz="2750" dirty="0">
                <a:latin typeface="Calibri"/>
                <a:cs typeface="Calibri"/>
              </a:rPr>
              <a:t>an</a:t>
            </a:r>
            <a:r>
              <a:rPr sz="2750" spc="50" dirty="0">
                <a:latin typeface="Calibri"/>
                <a:cs typeface="Calibri"/>
              </a:rPr>
              <a:t> </a:t>
            </a:r>
            <a:r>
              <a:rPr sz="2750" dirty="0">
                <a:latin typeface="Calibri"/>
                <a:cs typeface="Calibri"/>
              </a:rPr>
              <a:t>intelligent</a:t>
            </a:r>
            <a:r>
              <a:rPr sz="2750" spc="50" dirty="0">
                <a:latin typeface="Calibri"/>
                <a:cs typeface="Calibri"/>
              </a:rPr>
              <a:t> </a:t>
            </a:r>
            <a:r>
              <a:rPr sz="2750" dirty="0">
                <a:latin typeface="Calibri"/>
                <a:cs typeface="Calibri"/>
              </a:rPr>
              <a:t>algorithm</a:t>
            </a:r>
            <a:r>
              <a:rPr sz="2750" spc="35" dirty="0">
                <a:latin typeface="Calibri"/>
                <a:cs typeface="Calibri"/>
              </a:rPr>
              <a:t> </a:t>
            </a:r>
            <a:r>
              <a:rPr sz="2750" dirty="0">
                <a:latin typeface="Calibri"/>
                <a:cs typeface="Calibri"/>
              </a:rPr>
              <a:t>for</a:t>
            </a:r>
            <a:r>
              <a:rPr sz="2750" spc="90" dirty="0">
                <a:latin typeface="Calibri"/>
                <a:cs typeface="Calibri"/>
              </a:rPr>
              <a:t> </a:t>
            </a:r>
            <a:r>
              <a:rPr sz="2750" dirty="0">
                <a:latin typeface="Calibri"/>
                <a:cs typeface="Calibri"/>
              </a:rPr>
              <a:t>doctor-patient</a:t>
            </a:r>
            <a:r>
              <a:rPr sz="2750" spc="45" dirty="0">
                <a:latin typeface="Calibri"/>
                <a:cs typeface="Calibri"/>
              </a:rPr>
              <a:t> </a:t>
            </a:r>
            <a:r>
              <a:rPr sz="2750" spc="-10" dirty="0">
                <a:latin typeface="Calibri"/>
                <a:cs typeface="Calibri"/>
              </a:rPr>
              <a:t>matching.</a:t>
            </a:r>
            <a:endParaRPr sz="2750" dirty="0">
              <a:latin typeface="Calibri"/>
              <a:cs typeface="Calibri"/>
            </a:endParaRPr>
          </a:p>
          <a:p>
            <a:pPr marL="135890" indent="-130175">
              <a:lnSpc>
                <a:spcPct val="100000"/>
              </a:lnSpc>
              <a:spcBef>
                <a:spcPts val="80"/>
              </a:spcBef>
              <a:buSzPct val="96363"/>
              <a:buFont typeface="Arial MT"/>
              <a:buChar char="•"/>
              <a:tabLst>
                <a:tab pos="135890" algn="l"/>
              </a:tabLst>
            </a:pPr>
            <a:r>
              <a:rPr sz="2750" b="1" dirty="0">
                <a:latin typeface="Calibri"/>
                <a:cs typeface="Calibri"/>
              </a:rPr>
              <a:t>Automate</a:t>
            </a:r>
            <a:r>
              <a:rPr sz="2750" b="1" spc="80" dirty="0">
                <a:latin typeface="Calibri"/>
                <a:cs typeface="Calibri"/>
              </a:rPr>
              <a:t> </a:t>
            </a:r>
            <a:r>
              <a:rPr sz="2750" dirty="0">
                <a:latin typeface="Calibri"/>
                <a:cs typeface="Calibri"/>
              </a:rPr>
              <a:t>over</a:t>
            </a:r>
            <a:r>
              <a:rPr sz="2750" spc="85" dirty="0">
                <a:latin typeface="Calibri"/>
                <a:cs typeface="Calibri"/>
              </a:rPr>
              <a:t> </a:t>
            </a:r>
            <a:r>
              <a:rPr sz="2750" dirty="0">
                <a:latin typeface="Calibri"/>
                <a:cs typeface="Calibri"/>
              </a:rPr>
              <a:t>80%</a:t>
            </a:r>
            <a:r>
              <a:rPr sz="2750" spc="50" dirty="0">
                <a:latin typeface="Calibri"/>
                <a:cs typeface="Calibri"/>
              </a:rPr>
              <a:t> </a:t>
            </a:r>
            <a:r>
              <a:rPr sz="2750" dirty="0">
                <a:latin typeface="Calibri"/>
                <a:cs typeface="Calibri"/>
              </a:rPr>
              <a:t>of</a:t>
            </a:r>
            <a:r>
              <a:rPr sz="2750" spc="55" dirty="0">
                <a:latin typeface="Calibri"/>
                <a:cs typeface="Calibri"/>
              </a:rPr>
              <a:t> </a:t>
            </a:r>
            <a:r>
              <a:rPr sz="2750" dirty="0">
                <a:latin typeface="Calibri"/>
                <a:cs typeface="Calibri"/>
              </a:rPr>
              <a:t>routine</a:t>
            </a:r>
            <a:r>
              <a:rPr sz="2750" spc="50" dirty="0">
                <a:latin typeface="Calibri"/>
                <a:cs typeface="Calibri"/>
              </a:rPr>
              <a:t> </a:t>
            </a:r>
            <a:r>
              <a:rPr sz="2750" dirty="0">
                <a:latin typeface="Calibri"/>
                <a:cs typeface="Calibri"/>
              </a:rPr>
              <a:t>scheduling</a:t>
            </a:r>
            <a:r>
              <a:rPr sz="2750" spc="55" dirty="0">
                <a:latin typeface="Calibri"/>
                <a:cs typeface="Calibri"/>
              </a:rPr>
              <a:t> </a:t>
            </a:r>
            <a:r>
              <a:rPr sz="2750" dirty="0">
                <a:latin typeface="Calibri"/>
                <a:cs typeface="Calibri"/>
              </a:rPr>
              <a:t>tasks</a:t>
            </a:r>
            <a:r>
              <a:rPr sz="2750" spc="45" dirty="0">
                <a:latin typeface="Calibri"/>
                <a:cs typeface="Calibri"/>
              </a:rPr>
              <a:t> </a:t>
            </a:r>
            <a:r>
              <a:rPr sz="2750" dirty="0">
                <a:latin typeface="Calibri"/>
                <a:cs typeface="Calibri"/>
              </a:rPr>
              <a:t>for</a:t>
            </a:r>
            <a:r>
              <a:rPr sz="2750" spc="90" dirty="0">
                <a:latin typeface="Calibri"/>
                <a:cs typeface="Calibri"/>
              </a:rPr>
              <a:t> </a:t>
            </a:r>
            <a:r>
              <a:rPr sz="2750" spc="-10" dirty="0">
                <a:latin typeface="Calibri"/>
                <a:cs typeface="Calibri"/>
              </a:rPr>
              <a:t>staff.</a:t>
            </a:r>
            <a:endParaRPr sz="2750" dirty="0">
              <a:latin typeface="Calibri"/>
              <a:cs typeface="Calibri"/>
            </a:endParaRPr>
          </a:p>
          <a:p>
            <a:pPr marL="135890" indent="-130175">
              <a:lnSpc>
                <a:spcPct val="100000"/>
              </a:lnSpc>
              <a:spcBef>
                <a:spcPts val="80"/>
              </a:spcBef>
              <a:buSzPct val="96363"/>
              <a:buFont typeface="Arial MT"/>
              <a:buChar char="•"/>
              <a:tabLst>
                <a:tab pos="135890" algn="l"/>
              </a:tabLst>
            </a:pPr>
            <a:r>
              <a:rPr sz="2750" b="1" dirty="0">
                <a:latin typeface="Calibri"/>
                <a:cs typeface="Calibri"/>
              </a:rPr>
              <a:t>Provide</a:t>
            </a:r>
            <a:r>
              <a:rPr sz="2750" b="1" spc="125" dirty="0">
                <a:latin typeface="Calibri"/>
                <a:cs typeface="Calibri"/>
              </a:rPr>
              <a:t> </a:t>
            </a:r>
            <a:r>
              <a:rPr sz="2750" dirty="0">
                <a:latin typeface="Calibri"/>
                <a:cs typeface="Calibri"/>
              </a:rPr>
              <a:t>a</a:t>
            </a:r>
            <a:r>
              <a:rPr sz="2750" spc="40" dirty="0">
                <a:latin typeface="Calibri"/>
                <a:cs typeface="Calibri"/>
              </a:rPr>
              <a:t> </a:t>
            </a:r>
            <a:r>
              <a:rPr sz="2750" dirty="0">
                <a:latin typeface="Calibri"/>
                <a:cs typeface="Calibri"/>
              </a:rPr>
              <a:t>seamless</a:t>
            </a:r>
            <a:r>
              <a:rPr sz="2750" spc="65" dirty="0">
                <a:latin typeface="Calibri"/>
                <a:cs typeface="Calibri"/>
              </a:rPr>
              <a:t> </a:t>
            </a:r>
            <a:r>
              <a:rPr sz="2750" dirty="0">
                <a:latin typeface="Calibri"/>
                <a:cs typeface="Calibri"/>
              </a:rPr>
              <a:t>and</a:t>
            </a:r>
            <a:r>
              <a:rPr sz="2750" spc="65" dirty="0">
                <a:latin typeface="Calibri"/>
                <a:cs typeface="Calibri"/>
              </a:rPr>
              <a:t> </a:t>
            </a:r>
            <a:r>
              <a:rPr sz="2750" dirty="0">
                <a:latin typeface="Calibri"/>
                <a:cs typeface="Calibri"/>
              </a:rPr>
              <a:t>simple</a:t>
            </a:r>
            <a:r>
              <a:rPr sz="2750" spc="70" dirty="0">
                <a:latin typeface="Calibri"/>
                <a:cs typeface="Calibri"/>
              </a:rPr>
              <a:t> </a:t>
            </a:r>
            <a:r>
              <a:rPr sz="2750" dirty="0">
                <a:latin typeface="Calibri"/>
                <a:cs typeface="Calibri"/>
              </a:rPr>
              <a:t>booking</a:t>
            </a:r>
            <a:r>
              <a:rPr sz="2750" spc="65" dirty="0">
                <a:latin typeface="Calibri"/>
                <a:cs typeface="Calibri"/>
              </a:rPr>
              <a:t> </a:t>
            </a:r>
            <a:r>
              <a:rPr sz="2750" dirty="0">
                <a:latin typeface="Calibri"/>
                <a:cs typeface="Calibri"/>
              </a:rPr>
              <a:t>experience</a:t>
            </a:r>
            <a:r>
              <a:rPr sz="2750" spc="65" dirty="0">
                <a:latin typeface="Calibri"/>
                <a:cs typeface="Calibri"/>
              </a:rPr>
              <a:t> </a:t>
            </a:r>
            <a:r>
              <a:rPr sz="2750" dirty="0">
                <a:latin typeface="Calibri"/>
                <a:cs typeface="Calibri"/>
              </a:rPr>
              <a:t>for</a:t>
            </a:r>
            <a:r>
              <a:rPr sz="2750" spc="30" dirty="0">
                <a:latin typeface="Calibri"/>
                <a:cs typeface="Calibri"/>
              </a:rPr>
              <a:t> </a:t>
            </a:r>
            <a:r>
              <a:rPr sz="2750" spc="-10" dirty="0">
                <a:latin typeface="Calibri"/>
                <a:cs typeface="Calibri"/>
              </a:rPr>
              <a:t>patients.</a:t>
            </a:r>
            <a:endParaRPr sz="2750" dirty="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8B70E-D787-A161-1993-9D2E8D8B9FC9}"/>
              </a:ext>
            </a:extLst>
          </p:cNvPr>
          <p:cNvSpPr>
            <a:spLocks noGrp="1"/>
          </p:cNvSpPr>
          <p:nvPr>
            <p:ph type="title"/>
          </p:nvPr>
        </p:nvSpPr>
        <p:spPr>
          <a:xfrm>
            <a:off x="1072197" y="609600"/>
            <a:ext cx="6375717" cy="762889"/>
          </a:xfrm>
        </p:spPr>
        <p:txBody>
          <a:bodyPr/>
          <a:lstStyle/>
          <a:p>
            <a:r>
              <a:rPr lang="en-US" b="1" dirty="0">
                <a:solidFill>
                  <a:srgbClr val="0070C0"/>
                </a:solidFill>
                <a:latin typeface="Times New Roman" panose="02020603050405020304" pitchFamily="18" charset="0"/>
                <a:cs typeface="Times New Roman" panose="02020603050405020304" pitchFamily="18" charset="0"/>
              </a:rPr>
              <a:t>Purpose of the project</a:t>
            </a:r>
            <a:br>
              <a:rPr lang="en-IN" dirty="0">
                <a:solidFill>
                  <a:srgbClr val="0070C0"/>
                </a:solidFill>
              </a:rPr>
            </a:br>
            <a:endParaRPr lang="en-IN" dirty="0"/>
          </a:p>
        </p:txBody>
      </p:sp>
      <p:sp>
        <p:nvSpPr>
          <p:cNvPr id="3" name="Text Placeholder 2">
            <a:extLst>
              <a:ext uri="{FF2B5EF4-FFF2-40B4-BE49-F238E27FC236}">
                <a16:creationId xmlns:a16="http://schemas.microsoft.com/office/drawing/2014/main" id="{793A7DAA-D7E1-C7D3-7BFD-3804196517A3}"/>
              </a:ext>
            </a:extLst>
          </p:cNvPr>
          <p:cNvSpPr>
            <a:spLocks noGrp="1"/>
          </p:cNvSpPr>
          <p:nvPr>
            <p:ph type="body" idx="1"/>
          </p:nvPr>
        </p:nvSpPr>
        <p:spPr>
          <a:xfrm>
            <a:off x="1072197" y="1924430"/>
            <a:ext cx="10114915" cy="3808735"/>
          </a:xfrm>
        </p:spPr>
        <p:txBody>
          <a:bodyPr/>
          <a:lstStyle/>
          <a:p>
            <a:r>
              <a:rPr lang="en-US" dirty="0"/>
              <a:t>The purpose of Project Sahay is to make hospital appointment management easier, faster, and more efficient for both patients and staff. It aims to reduce the time and effort needed for booking, rescheduling, and canceling appointments by using AI-powered voice and text communication. By automating these routine tasks, the project helps hospitals provide better service, avoid scheduling errors, and ensure that patients get quick access to the right doctors. Overall, Sahay’s purpose is to improve the healthcare experience through smart technology and simple, accessible communication.</a:t>
            </a:r>
            <a:endParaRPr lang="en-IN" dirty="0"/>
          </a:p>
        </p:txBody>
      </p:sp>
      <p:grpSp>
        <p:nvGrpSpPr>
          <p:cNvPr id="8" name="object 2">
            <a:extLst>
              <a:ext uri="{FF2B5EF4-FFF2-40B4-BE49-F238E27FC236}">
                <a16:creationId xmlns:a16="http://schemas.microsoft.com/office/drawing/2014/main" id="{E87ADC00-CF45-B3C3-5E8E-EA2654E46B10}"/>
              </a:ext>
            </a:extLst>
          </p:cNvPr>
          <p:cNvGrpSpPr/>
          <p:nvPr/>
        </p:nvGrpSpPr>
        <p:grpSpPr>
          <a:xfrm>
            <a:off x="0" y="0"/>
            <a:ext cx="12192000" cy="6858000"/>
            <a:chOff x="0" y="0"/>
            <a:chExt cx="12192000" cy="6858000"/>
          </a:xfrm>
        </p:grpSpPr>
        <p:pic>
          <p:nvPicPr>
            <p:cNvPr id="9" name="object 3">
              <a:extLst>
                <a:ext uri="{FF2B5EF4-FFF2-40B4-BE49-F238E27FC236}">
                  <a16:creationId xmlns:a16="http://schemas.microsoft.com/office/drawing/2014/main" id="{42008E0D-1AE4-FF67-D199-0E8BE1513310}"/>
                </a:ext>
              </a:extLst>
            </p:cNvPr>
            <p:cNvPicPr/>
            <p:nvPr/>
          </p:nvPicPr>
          <p:blipFill>
            <a:blip r:embed="rId2" cstate="print"/>
            <a:stretch>
              <a:fillRect/>
            </a:stretch>
          </p:blipFill>
          <p:spPr>
            <a:xfrm>
              <a:off x="0" y="0"/>
              <a:ext cx="12192000" cy="6858000"/>
            </a:xfrm>
            <a:prstGeom prst="rect">
              <a:avLst/>
            </a:prstGeom>
          </p:spPr>
        </p:pic>
        <p:pic>
          <p:nvPicPr>
            <p:cNvPr id="10" name="object 4">
              <a:extLst>
                <a:ext uri="{FF2B5EF4-FFF2-40B4-BE49-F238E27FC236}">
                  <a16:creationId xmlns:a16="http://schemas.microsoft.com/office/drawing/2014/main" id="{1FD2080E-0E2D-F678-E5EA-5D15E2AA5E60}"/>
                </a:ext>
              </a:extLst>
            </p:cNvPr>
            <p:cNvPicPr/>
            <p:nvPr/>
          </p:nvPicPr>
          <p:blipFill>
            <a:blip r:embed="rId3" cstate="print"/>
            <a:stretch>
              <a:fillRect/>
            </a:stretch>
          </p:blipFill>
          <p:spPr>
            <a:xfrm>
              <a:off x="0" y="0"/>
              <a:ext cx="12172950" cy="6858000"/>
            </a:xfrm>
            <a:prstGeom prst="rect">
              <a:avLst/>
            </a:prstGeom>
          </p:spPr>
        </p:pic>
        <p:pic>
          <p:nvPicPr>
            <p:cNvPr id="11" name="object 5">
              <a:extLst>
                <a:ext uri="{FF2B5EF4-FFF2-40B4-BE49-F238E27FC236}">
                  <a16:creationId xmlns:a16="http://schemas.microsoft.com/office/drawing/2014/main" id="{27A61D7B-395C-70A5-0EB9-0478FEAD42D0}"/>
                </a:ext>
              </a:extLst>
            </p:cNvPr>
            <p:cNvPicPr/>
            <p:nvPr/>
          </p:nvPicPr>
          <p:blipFill>
            <a:blip r:embed="rId4" cstate="print"/>
            <a:stretch>
              <a:fillRect/>
            </a:stretch>
          </p:blipFill>
          <p:spPr>
            <a:xfrm>
              <a:off x="9772650" y="161925"/>
              <a:ext cx="2181225" cy="600075"/>
            </a:xfrm>
            <a:prstGeom prst="rect">
              <a:avLst/>
            </a:prstGeom>
          </p:spPr>
        </p:pic>
      </p:grpSp>
    </p:spTree>
    <p:extLst>
      <p:ext uri="{BB962C8B-B14F-4D97-AF65-F5344CB8AC3E}">
        <p14:creationId xmlns:p14="http://schemas.microsoft.com/office/powerpoint/2010/main" val="3752670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43736-7D39-6DE2-959B-6D4845724DD0}"/>
              </a:ext>
            </a:extLst>
          </p:cNvPr>
          <p:cNvSpPr>
            <a:spLocks noGrp="1"/>
          </p:cNvSpPr>
          <p:nvPr>
            <p:ph type="title"/>
          </p:nvPr>
        </p:nvSpPr>
        <p:spPr>
          <a:xfrm>
            <a:off x="1072197" y="609600"/>
            <a:ext cx="6375717" cy="762889"/>
          </a:xfrm>
        </p:spPr>
        <p:txBody>
          <a:bodyPr/>
          <a:lstStyle/>
          <a:p>
            <a:r>
              <a:rPr lang="en-US" b="1" dirty="0">
                <a:solidFill>
                  <a:srgbClr val="0070C0"/>
                </a:solidFill>
                <a:latin typeface="Times New Roman" panose="02020603050405020304" pitchFamily="18" charset="0"/>
                <a:cs typeface="Times New Roman" panose="02020603050405020304" pitchFamily="18" charset="0"/>
              </a:rPr>
              <a:t>Motivation</a:t>
            </a:r>
            <a:br>
              <a:rPr lang="en-IN" dirty="0">
                <a:solidFill>
                  <a:srgbClr val="0070C0"/>
                </a:solidFill>
              </a:rPr>
            </a:br>
            <a:endParaRPr lang="en-IN" dirty="0"/>
          </a:p>
        </p:txBody>
      </p:sp>
      <p:sp>
        <p:nvSpPr>
          <p:cNvPr id="3" name="Text Placeholder 2">
            <a:extLst>
              <a:ext uri="{FF2B5EF4-FFF2-40B4-BE49-F238E27FC236}">
                <a16:creationId xmlns:a16="http://schemas.microsoft.com/office/drawing/2014/main" id="{34C22B46-4BE1-66A0-2141-D88579FE67F6}"/>
              </a:ext>
            </a:extLst>
          </p:cNvPr>
          <p:cNvSpPr>
            <a:spLocks noGrp="1"/>
          </p:cNvSpPr>
          <p:nvPr>
            <p:ph type="body" idx="1"/>
          </p:nvPr>
        </p:nvSpPr>
        <p:spPr>
          <a:xfrm>
            <a:off x="1072197" y="1924430"/>
            <a:ext cx="10114915" cy="3385542"/>
          </a:xfrm>
        </p:spPr>
        <p:txBody>
          <a:bodyPr/>
          <a:lstStyle/>
          <a:p>
            <a:r>
              <a:rPr lang="en-US" dirty="0"/>
              <a:t>Project Sahay was inspired by the need to simplify and improve the patient experience in hospitals. Managing appointments manually or over the phone is time-consuming, prone to errors, and inconvenient for both patients and staff. By creating an AI-powered assistant that can handle booking, rescheduling, and canceling appointments through both web and phone, the project aims to save time, reduce errors, and make healthcare services more accessible, efficient, and patient-friendly.</a:t>
            </a:r>
            <a:endParaRPr lang="en-IN" dirty="0"/>
          </a:p>
        </p:txBody>
      </p:sp>
      <p:grpSp>
        <p:nvGrpSpPr>
          <p:cNvPr id="4" name="object 2">
            <a:extLst>
              <a:ext uri="{FF2B5EF4-FFF2-40B4-BE49-F238E27FC236}">
                <a16:creationId xmlns:a16="http://schemas.microsoft.com/office/drawing/2014/main" id="{F967A2B2-2CC4-C4C0-0836-54132A7A6F6D}"/>
              </a:ext>
            </a:extLst>
          </p:cNvPr>
          <p:cNvGrpSpPr/>
          <p:nvPr/>
        </p:nvGrpSpPr>
        <p:grpSpPr>
          <a:xfrm>
            <a:off x="0" y="0"/>
            <a:ext cx="12192000" cy="6858000"/>
            <a:chOff x="0" y="0"/>
            <a:chExt cx="12192000" cy="6858000"/>
          </a:xfrm>
        </p:grpSpPr>
        <p:pic>
          <p:nvPicPr>
            <p:cNvPr id="5" name="object 3">
              <a:extLst>
                <a:ext uri="{FF2B5EF4-FFF2-40B4-BE49-F238E27FC236}">
                  <a16:creationId xmlns:a16="http://schemas.microsoft.com/office/drawing/2014/main" id="{8ACD0F6A-4F85-3B88-502F-A5544ACFB2F6}"/>
                </a:ext>
              </a:extLst>
            </p:cNvPr>
            <p:cNvPicPr/>
            <p:nvPr/>
          </p:nvPicPr>
          <p:blipFill>
            <a:blip r:embed="rId2" cstate="print"/>
            <a:stretch>
              <a:fillRect/>
            </a:stretch>
          </p:blipFill>
          <p:spPr>
            <a:xfrm>
              <a:off x="0" y="0"/>
              <a:ext cx="12192000" cy="6858000"/>
            </a:xfrm>
            <a:prstGeom prst="rect">
              <a:avLst/>
            </a:prstGeom>
          </p:spPr>
        </p:pic>
        <p:pic>
          <p:nvPicPr>
            <p:cNvPr id="6" name="object 4">
              <a:extLst>
                <a:ext uri="{FF2B5EF4-FFF2-40B4-BE49-F238E27FC236}">
                  <a16:creationId xmlns:a16="http://schemas.microsoft.com/office/drawing/2014/main" id="{04F246D6-A6CB-8476-C56B-37DC7DB7D1C7}"/>
                </a:ext>
              </a:extLst>
            </p:cNvPr>
            <p:cNvPicPr/>
            <p:nvPr/>
          </p:nvPicPr>
          <p:blipFill>
            <a:blip r:embed="rId3" cstate="print"/>
            <a:stretch>
              <a:fillRect/>
            </a:stretch>
          </p:blipFill>
          <p:spPr>
            <a:xfrm>
              <a:off x="0" y="0"/>
              <a:ext cx="12172950" cy="6858000"/>
            </a:xfrm>
            <a:prstGeom prst="rect">
              <a:avLst/>
            </a:prstGeom>
          </p:spPr>
        </p:pic>
        <p:pic>
          <p:nvPicPr>
            <p:cNvPr id="7" name="object 5">
              <a:extLst>
                <a:ext uri="{FF2B5EF4-FFF2-40B4-BE49-F238E27FC236}">
                  <a16:creationId xmlns:a16="http://schemas.microsoft.com/office/drawing/2014/main" id="{A56505C7-C99A-1979-2321-AB6FFCA9373B}"/>
                </a:ext>
              </a:extLst>
            </p:cNvPr>
            <p:cNvPicPr/>
            <p:nvPr/>
          </p:nvPicPr>
          <p:blipFill>
            <a:blip r:embed="rId4" cstate="print"/>
            <a:stretch>
              <a:fillRect/>
            </a:stretch>
          </p:blipFill>
          <p:spPr>
            <a:xfrm>
              <a:off x="9772650" y="161925"/>
              <a:ext cx="2181225" cy="600075"/>
            </a:xfrm>
            <a:prstGeom prst="rect">
              <a:avLst/>
            </a:prstGeom>
          </p:spPr>
        </p:pic>
      </p:grpSp>
    </p:spTree>
    <p:extLst>
      <p:ext uri="{BB962C8B-B14F-4D97-AF65-F5344CB8AC3E}">
        <p14:creationId xmlns:p14="http://schemas.microsoft.com/office/powerpoint/2010/main" val="807063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86EED-B7E9-2DAE-3AAC-92A56F668DD2}"/>
              </a:ext>
            </a:extLst>
          </p:cNvPr>
          <p:cNvSpPr>
            <a:spLocks noGrp="1"/>
          </p:cNvSpPr>
          <p:nvPr>
            <p:ph type="title"/>
          </p:nvPr>
        </p:nvSpPr>
        <p:spPr>
          <a:xfrm>
            <a:off x="746442" y="381000"/>
            <a:ext cx="8854758" cy="1295400"/>
          </a:xfrm>
        </p:spPr>
        <p:txBody>
          <a:bodyPr/>
          <a:lstStyle/>
          <a:p>
            <a:r>
              <a:rPr lang="en-US" altLang="zh-CN" b="1" dirty="0">
                <a:solidFill>
                  <a:srgbClr val="0070C0"/>
                </a:solidFill>
                <a:latin typeface="Times New Roman" panose="02020603050405020304" pitchFamily="18" charset="0"/>
              </a:rPr>
              <a:t>Literature Survey</a:t>
            </a:r>
            <a:br>
              <a:rPr lang="en-US" altLang="zh-CN" b="1" dirty="0">
                <a:solidFill>
                  <a:srgbClr val="0070C0"/>
                </a:solidFill>
                <a:latin typeface="Times New Roman" panose="02020603050405020304" pitchFamily="18" charset="0"/>
              </a:rPr>
            </a:br>
            <a:r>
              <a:rPr lang="en-US" altLang="en-US" b="1" dirty="0">
                <a:solidFill>
                  <a:srgbClr val="0070C0"/>
                </a:solidFill>
                <a:latin typeface="Times New Roman" panose="02020603050405020304" pitchFamily="18" charset="0"/>
              </a:rPr>
              <a:t>IEEE PAPER-1</a:t>
            </a:r>
            <a:br>
              <a:rPr lang="en-IN" altLang="en-US" dirty="0">
                <a:solidFill>
                  <a:srgbClr val="0070C0"/>
                </a:solidFill>
                <a:latin typeface="Calibri" panose="020F0502020204030204"/>
              </a:rPr>
            </a:br>
            <a:endParaRPr lang="en-IN" dirty="0"/>
          </a:p>
        </p:txBody>
      </p:sp>
      <p:sp>
        <p:nvSpPr>
          <p:cNvPr id="3" name="Text Placeholder 2">
            <a:extLst>
              <a:ext uri="{FF2B5EF4-FFF2-40B4-BE49-F238E27FC236}">
                <a16:creationId xmlns:a16="http://schemas.microsoft.com/office/drawing/2014/main" id="{4BBC0BE3-44F5-D662-DF6C-C88FE7ACDB2B}"/>
              </a:ext>
            </a:extLst>
          </p:cNvPr>
          <p:cNvSpPr>
            <a:spLocks noGrp="1"/>
          </p:cNvSpPr>
          <p:nvPr>
            <p:ph type="body" idx="1"/>
          </p:nvPr>
        </p:nvSpPr>
        <p:spPr>
          <a:xfrm>
            <a:off x="746442" y="1860352"/>
            <a:ext cx="10523784" cy="4616648"/>
          </a:xfrm>
        </p:spPr>
        <p:txBody>
          <a:bodyPr/>
          <a:lstStyle/>
          <a:p>
            <a:r>
              <a:rPr lang="en-US" sz="2000" b="1" dirty="0"/>
              <a:t>-Title</a:t>
            </a:r>
            <a:r>
              <a:rPr lang="en-US" sz="2000" dirty="0"/>
              <a:t>: Generative AI for Transformative Healthcare</a:t>
            </a:r>
          </a:p>
          <a:p>
            <a:r>
              <a:rPr lang="en-US" sz="2000" b="1" dirty="0"/>
              <a:t>-Reference</a:t>
            </a:r>
            <a:r>
              <a:rPr lang="en-US" sz="2000" dirty="0"/>
              <a:t>: </a:t>
            </a:r>
            <a:r>
              <a:rPr lang="en-US" sz="2000" dirty="0">
                <a:hlinkClick r:id="rId2"/>
              </a:rPr>
              <a:t>https://ieeexplore.ieee.org/iel7/6287639/10380310/10440330.pdf</a:t>
            </a:r>
            <a:endParaRPr lang="en-US" sz="2000" dirty="0"/>
          </a:p>
          <a:p>
            <a:r>
              <a:rPr lang="en-US" sz="2000" b="1" dirty="0"/>
              <a:t>-Authors: </a:t>
            </a:r>
            <a:r>
              <a:rPr lang="en-US" sz="2000" dirty="0"/>
              <a:t>Vishal Jain, Pooja Sharma, Krishna Narra, Renuka G</a:t>
            </a:r>
          </a:p>
          <a:p>
            <a:r>
              <a:rPr lang="en-US" sz="2000" b="1" dirty="0"/>
              <a:t>-Published on</a:t>
            </a:r>
            <a:r>
              <a:rPr lang="en-US" sz="2000" dirty="0"/>
              <a:t>: 2024</a:t>
            </a:r>
          </a:p>
          <a:p>
            <a:r>
              <a:rPr lang="en-US" sz="2000" b="1" dirty="0"/>
              <a:t>-Methodology:</a:t>
            </a:r>
            <a:br>
              <a:rPr lang="en-US" sz="2000" dirty="0"/>
            </a:br>
            <a:r>
              <a:rPr lang="en-US" sz="2000" dirty="0"/>
              <a:t>This paper details how generative AI, particularly conversational agents, are being incorporated     into healthcare for tasks like appointment management, telemedicine, and administrative automation. It discusses a multi-layered architecture comprising voice and text interfaces, serverless middleware, and cloud databases that support transactional integrity. Key techniques include natural language understanding, secure API-driven integration with telephony gateways, and deployment of real-time voice assistants using cloud speech services. Observability features such as admin dashboards for operational KPI tracking are implemented, along with recommendations for future scalability and security, including WebSocket real-time communication and role-based access control for sensitive functions.</a:t>
            </a:r>
          </a:p>
          <a:p>
            <a:endParaRPr lang="en-IN" sz="2000" dirty="0"/>
          </a:p>
        </p:txBody>
      </p:sp>
      <p:grpSp>
        <p:nvGrpSpPr>
          <p:cNvPr id="4" name="object 2">
            <a:extLst>
              <a:ext uri="{FF2B5EF4-FFF2-40B4-BE49-F238E27FC236}">
                <a16:creationId xmlns:a16="http://schemas.microsoft.com/office/drawing/2014/main" id="{5E76A96F-C4CE-1734-6F2E-71E0158E0CA1}"/>
              </a:ext>
            </a:extLst>
          </p:cNvPr>
          <p:cNvGrpSpPr/>
          <p:nvPr/>
        </p:nvGrpSpPr>
        <p:grpSpPr>
          <a:xfrm>
            <a:off x="0" y="0"/>
            <a:ext cx="12192000" cy="6858000"/>
            <a:chOff x="0" y="0"/>
            <a:chExt cx="12192000" cy="6858000"/>
          </a:xfrm>
        </p:grpSpPr>
        <p:pic>
          <p:nvPicPr>
            <p:cNvPr id="5" name="object 3">
              <a:extLst>
                <a:ext uri="{FF2B5EF4-FFF2-40B4-BE49-F238E27FC236}">
                  <a16:creationId xmlns:a16="http://schemas.microsoft.com/office/drawing/2014/main" id="{DE5FBF55-96C6-444C-0EB1-8B0B2FD62C93}"/>
                </a:ext>
              </a:extLst>
            </p:cNvPr>
            <p:cNvPicPr/>
            <p:nvPr/>
          </p:nvPicPr>
          <p:blipFill>
            <a:blip r:embed="rId3" cstate="print"/>
            <a:stretch>
              <a:fillRect/>
            </a:stretch>
          </p:blipFill>
          <p:spPr>
            <a:xfrm>
              <a:off x="0" y="0"/>
              <a:ext cx="12192000" cy="6858000"/>
            </a:xfrm>
            <a:prstGeom prst="rect">
              <a:avLst/>
            </a:prstGeom>
          </p:spPr>
        </p:pic>
        <p:pic>
          <p:nvPicPr>
            <p:cNvPr id="6" name="object 4">
              <a:extLst>
                <a:ext uri="{FF2B5EF4-FFF2-40B4-BE49-F238E27FC236}">
                  <a16:creationId xmlns:a16="http://schemas.microsoft.com/office/drawing/2014/main" id="{54D5E4A6-A131-5A7F-30BB-387480C9833C}"/>
                </a:ext>
              </a:extLst>
            </p:cNvPr>
            <p:cNvPicPr/>
            <p:nvPr/>
          </p:nvPicPr>
          <p:blipFill>
            <a:blip r:embed="rId4" cstate="print"/>
            <a:stretch>
              <a:fillRect/>
            </a:stretch>
          </p:blipFill>
          <p:spPr>
            <a:xfrm>
              <a:off x="0" y="0"/>
              <a:ext cx="12172950" cy="6858000"/>
            </a:xfrm>
            <a:prstGeom prst="rect">
              <a:avLst/>
            </a:prstGeom>
          </p:spPr>
        </p:pic>
        <p:pic>
          <p:nvPicPr>
            <p:cNvPr id="7" name="object 5">
              <a:extLst>
                <a:ext uri="{FF2B5EF4-FFF2-40B4-BE49-F238E27FC236}">
                  <a16:creationId xmlns:a16="http://schemas.microsoft.com/office/drawing/2014/main" id="{6ED454C1-28FD-E5FB-885C-88B9E70447BD}"/>
                </a:ext>
              </a:extLst>
            </p:cNvPr>
            <p:cNvPicPr/>
            <p:nvPr/>
          </p:nvPicPr>
          <p:blipFill>
            <a:blip r:embed="rId5" cstate="print"/>
            <a:stretch>
              <a:fillRect/>
            </a:stretch>
          </p:blipFill>
          <p:spPr>
            <a:xfrm>
              <a:off x="9772650" y="161925"/>
              <a:ext cx="2181225" cy="600075"/>
            </a:xfrm>
            <a:prstGeom prst="rect">
              <a:avLst/>
            </a:prstGeom>
          </p:spPr>
        </p:pic>
      </p:grpSp>
    </p:spTree>
    <p:extLst>
      <p:ext uri="{BB962C8B-B14F-4D97-AF65-F5344CB8AC3E}">
        <p14:creationId xmlns:p14="http://schemas.microsoft.com/office/powerpoint/2010/main" val="31813156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E21B5-B274-4AEC-544F-8BF2B7D0DF5B}"/>
              </a:ext>
            </a:extLst>
          </p:cNvPr>
          <p:cNvSpPr>
            <a:spLocks noGrp="1"/>
          </p:cNvSpPr>
          <p:nvPr>
            <p:ph type="title"/>
          </p:nvPr>
        </p:nvSpPr>
        <p:spPr>
          <a:xfrm>
            <a:off x="746442" y="227711"/>
            <a:ext cx="6375717" cy="1372489"/>
          </a:xfrm>
        </p:spPr>
        <p:txBody>
          <a:bodyPr/>
          <a:lstStyle/>
          <a:p>
            <a:r>
              <a:rPr lang="en-US" altLang="zh-CN" b="1" dirty="0">
                <a:solidFill>
                  <a:srgbClr val="0070C0"/>
                </a:solidFill>
                <a:latin typeface="Times New Roman" panose="02020603050405020304" pitchFamily="18" charset="0"/>
              </a:rPr>
              <a:t>Literature Survey</a:t>
            </a:r>
            <a:br>
              <a:rPr lang="en-US" altLang="zh-CN" b="1" dirty="0">
                <a:solidFill>
                  <a:srgbClr val="0070C0"/>
                </a:solidFill>
                <a:latin typeface="Times New Roman" panose="02020603050405020304" pitchFamily="18" charset="0"/>
              </a:rPr>
            </a:br>
            <a:r>
              <a:rPr lang="en-US" altLang="en-US" b="1" dirty="0">
                <a:solidFill>
                  <a:srgbClr val="0070C0"/>
                </a:solidFill>
                <a:latin typeface="Times New Roman" panose="02020603050405020304" pitchFamily="18" charset="0"/>
              </a:rPr>
              <a:t>IEEE PAPER-2</a:t>
            </a:r>
            <a:br>
              <a:rPr lang="en-IN" altLang="en-US" dirty="0">
                <a:solidFill>
                  <a:srgbClr val="0070C0"/>
                </a:solidFill>
                <a:latin typeface="Calibri" panose="020F0502020204030204"/>
              </a:rPr>
            </a:br>
            <a:br>
              <a:rPr lang="en-IN" altLang="en-US" dirty="0">
                <a:solidFill>
                  <a:srgbClr val="0070C0"/>
                </a:solidFill>
                <a:latin typeface="Calibri" panose="020F0502020204030204"/>
              </a:rPr>
            </a:br>
            <a:endParaRPr lang="en-IN" dirty="0"/>
          </a:p>
        </p:txBody>
      </p:sp>
      <p:sp>
        <p:nvSpPr>
          <p:cNvPr id="3" name="Text Placeholder 2">
            <a:extLst>
              <a:ext uri="{FF2B5EF4-FFF2-40B4-BE49-F238E27FC236}">
                <a16:creationId xmlns:a16="http://schemas.microsoft.com/office/drawing/2014/main" id="{3241905D-6AD1-1774-D8B2-D7FE5AB2F050}"/>
              </a:ext>
            </a:extLst>
          </p:cNvPr>
          <p:cNvSpPr>
            <a:spLocks noGrp="1"/>
          </p:cNvSpPr>
          <p:nvPr>
            <p:ph type="body" idx="1"/>
          </p:nvPr>
        </p:nvSpPr>
        <p:spPr>
          <a:xfrm>
            <a:off x="736610" y="1625798"/>
            <a:ext cx="10440670" cy="5232202"/>
          </a:xfrm>
        </p:spPr>
        <p:txBody>
          <a:bodyPr/>
          <a:lstStyle/>
          <a:p>
            <a:r>
              <a:rPr lang="en-US" sz="2000" b="1" dirty="0"/>
              <a:t>-Title</a:t>
            </a:r>
            <a:r>
              <a:rPr lang="en-US" sz="2000" dirty="0"/>
              <a:t>: Leveraging Large Language Models to Power Chatbots for Healthcare: Opportunities and Challenges</a:t>
            </a:r>
          </a:p>
          <a:p>
            <a:r>
              <a:rPr lang="en-US" sz="2000" b="1" dirty="0"/>
              <a:t>-Reference</a:t>
            </a:r>
            <a:r>
              <a:rPr lang="en-US" sz="2000" dirty="0"/>
              <a:t>: </a:t>
            </a:r>
            <a:r>
              <a:rPr lang="en-US" sz="2000" dirty="0">
                <a:hlinkClick r:id="rId2"/>
              </a:rPr>
              <a:t>https://dl.acm.org/doi/10.1145/3637364</a:t>
            </a:r>
            <a:endParaRPr lang="en-US" sz="2000" dirty="0"/>
          </a:p>
          <a:p>
            <a:r>
              <a:rPr lang="en-US" sz="2000" b="1" dirty="0"/>
              <a:t>-Authors</a:t>
            </a:r>
            <a:r>
              <a:rPr lang="en-US" sz="2000" dirty="0"/>
              <a:t>: </a:t>
            </a:r>
            <a:r>
              <a:rPr lang="en-US" sz="2000" dirty="0" err="1"/>
              <a:t>Yunxiang</a:t>
            </a:r>
            <a:r>
              <a:rPr lang="en-US" sz="2000" dirty="0"/>
              <a:t> Li, </a:t>
            </a:r>
            <a:r>
              <a:rPr lang="en-US" sz="2000" dirty="0" err="1"/>
              <a:t>Zhaodong</a:t>
            </a:r>
            <a:r>
              <a:rPr lang="en-US" sz="2000" dirty="0"/>
              <a:t> Ding, </a:t>
            </a:r>
            <a:r>
              <a:rPr lang="en-US" sz="2000" dirty="0" err="1"/>
              <a:t>Peiyuan</a:t>
            </a:r>
            <a:r>
              <a:rPr lang="en-US" sz="2000" dirty="0"/>
              <a:t> Sun, Xin Xie, </a:t>
            </a:r>
            <a:r>
              <a:rPr lang="en-US" sz="2000" dirty="0" err="1"/>
              <a:t>Dongdong</a:t>
            </a:r>
            <a:r>
              <a:rPr lang="en-US" sz="2000" dirty="0"/>
              <a:t> Li</a:t>
            </a:r>
          </a:p>
          <a:p>
            <a:r>
              <a:rPr lang="en-US" sz="2000" b="1" dirty="0"/>
              <a:t>-Published on</a:t>
            </a:r>
            <a:r>
              <a:rPr lang="en-US" sz="2000" dirty="0"/>
              <a:t>: 2025</a:t>
            </a:r>
          </a:p>
          <a:p>
            <a:r>
              <a:rPr lang="en-US" sz="2000" b="1" dirty="0"/>
              <a:t>-Methodology</a:t>
            </a:r>
            <a:r>
              <a:rPr lang="en-US" sz="2000" dirty="0"/>
              <a:t>:</a:t>
            </a:r>
            <a:br>
              <a:rPr lang="en-US" sz="2000" dirty="0"/>
            </a:br>
            <a:r>
              <a:rPr lang="en-US" sz="2000" dirty="0"/>
              <a:t>The paper explores how Large Language Models (LLMs), such as Google Gemini, can be used for building chatbots capable of automating healthcare workflows like appointment booking, patient triage, and information retrieval. These chatbots integrate with existing hospital databases and telephony systems via APIs. The research highlights system architecture involving a decoupled frontend (web and voice interface), serverless backend functions for business logic, and secure database management to ensure medical-grade data integrity. Automatic scaling, cost efficiency through serverless deployment, and multi-modal interaction (web/text and voice/phone) are emphasized. The methodology focuses on improving accessibility, reliability, and operational management for hospitals, demonstrated through the implementation and real-world evaluation of automated appointment lifecycle management and admin dashboard features.</a:t>
            </a:r>
          </a:p>
          <a:p>
            <a:endParaRPr lang="en-IN" sz="2000" dirty="0"/>
          </a:p>
        </p:txBody>
      </p:sp>
      <p:grpSp>
        <p:nvGrpSpPr>
          <p:cNvPr id="4" name="object 2">
            <a:extLst>
              <a:ext uri="{FF2B5EF4-FFF2-40B4-BE49-F238E27FC236}">
                <a16:creationId xmlns:a16="http://schemas.microsoft.com/office/drawing/2014/main" id="{984BD91F-B631-4B2E-4B38-1265D69E6E45}"/>
              </a:ext>
            </a:extLst>
          </p:cNvPr>
          <p:cNvGrpSpPr/>
          <p:nvPr/>
        </p:nvGrpSpPr>
        <p:grpSpPr>
          <a:xfrm>
            <a:off x="0" y="0"/>
            <a:ext cx="12192000" cy="6858000"/>
            <a:chOff x="0" y="0"/>
            <a:chExt cx="12192000" cy="6858000"/>
          </a:xfrm>
        </p:grpSpPr>
        <p:pic>
          <p:nvPicPr>
            <p:cNvPr id="5" name="object 3">
              <a:extLst>
                <a:ext uri="{FF2B5EF4-FFF2-40B4-BE49-F238E27FC236}">
                  <a16:creationId xmlns:a16="http://schemas.microsoft.com/office/drawing/2014/main" id="{0E0A7D84-FE18-E2E5-B9FE-564F56C2682A}"/>
                </a:ext>
              </a:extLst>
            </p:cNvPr>
            <p:cNvPicPr/>
            <p:nvPr/>
          </p:nvPicPr>
          <p:blipFill>
            <a:blip r:embed="rId3" cstate="print"/>
            <a:stretch>
              <a:fillRect/>
            </a:stretch>
          </p:blipFill>
          <p:spPr>
            <a:xfrm>
              <a:off x="0" y="0"/>
              <a:ext cx="12192000" cy="6858000"/>
            </a:xfrm>
            <a:prstGeom prst="rect">
              <a:avLst/>
            </a:prstGeom>
          </p:spPr>
        </p:pic>
        <p:pic>
          <p:nvPicPr>
            <p:cNvPr id="6" name="object 4">
              <a:extLst>
                <a:ext uri="{FF2B5EF4-FFF2-40B4-BE49-F238E27FC236}">
                  <a16:creationId xmlns:a16="http://schemas.microsoft.com/office/drawing/2014/main" id="{C1F0FCF1-8942-9F2A-9AFF-28B1C2790CDF}"/>
                </a:ext>
              </a:extLst>
            </p:cNvPr>
            <p:cNvPicPr/>
            <p:nvPr/>
          </p:nvPicPr>
          <p:blipFill>
            <a:blip r:embed="rId4" cstate="print"/>
            <a:stretch>
              <a:fillRect/>
            </a:stretch>
          </p:blipFill>
          <p:spPr>
            <a:xfrm>
              <a:off x="0" y="0"/>
              <a:ext cx="12172950" cy="6858000"/>
            </a:xfrm>
            <a:prstGeom prst="rect">
              <a:avLst/>
            </a:prstGeom>
          </p:spPr>
        </p:pic>
        <p:pic>
          <p:nvPicPr>
            <p:cNvPr id="7" name="object 5">
              <a:extLst>
                <a:ext uri="{FF2B5EF4-FFF2-40B4-BE49-F238E27FC236}">
                  <a16:creationId xmlns:a16="http://schemas.microsoft.com/office/drawing/2014/main" id="{FF3A0AFB-957A-D801-EF26-007A2F0E3917}"/>
                </a:ext>
              </a:extLst>
            </p:cNvPr>
            <p:cNvPicPr/>
            <p:nvPr/>
          </p:nvPicPr>
          <p:blipFill>
            <a:blip r:embed="rId5" cstate="print"/>
            <a:stretch>
              <a:fillRect/>
            </a:stretch>
          </p:blipFill>
          <p:spPr>
            <a:xfrm>
              <a:off x="9772650" y="161925"/>
              <a:ext cx="2181225" cy="600075"/>
            </a:xfrm>
            <a:prstGeom prst="rect">
              <a:avLst/>
            </a:prstGeom>
          </p:spPr>
        </p:pic>
      </p:grpSp>
    </p:spTree>
    <p:extLst>
      <p:ext uri="{BB962C8B-B14F-4D97-AF65-F5344CB8AC3E}">
        <p14:creationId xmlns:p14="http://schemas.microsoft.com/office/powerpoint/2010/main" val="2957557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A98F3-F77F-A90F-FD8E-3FD8D0209392}"/>
              </a:ext>
            </a:extLst>
          </p:cNvPr>
          <p:cNvSpPr>
            <a:spLocks noGrp="1"/>
          </p:cNvSpPr>
          <p:nvPr>
            <p:ph type="title"/>
          </p:nvPr>
        </p:nvSpPr>
        <p:spPr>
          <a:xfrm>
            <a:off x="746442" y="227711"/>
            <a:ext cx="6375717" cy="1448689"/>
          </a:xfrm>
        </p:spPr>
        <p:txBody>
          <a:bodyPr/>
          <a:lstStyle/>
          <a:p>
            <a:r>
              <a:rPr lang="en-US" altLang="zh-CN" b="1" dirty="0">
                <a:solidFill>
                  <a:srgbClr val="0070C0"/>
                </a:solidFill>
                <a:latin typeface="Times New Roman" panose="02020603050405020304" pitchFamily="18" charset="0"/>
              </a:rPr>
              <a:t>Literature Survey</a:t>
            </a:r>
            <a:br>
              <a:rPr lang="en-US" altLang="zh-CN" b="1" dirty="0">
                <a:solidFill>
                  <a:srgbClr val="0070C0"/>
                </a:solidFill>
                <a:latin typeface="Times New Roman" panose="02020603050405020304" pitchFamily="18" charset="0"/>
              </a:rPr>
            </a:br>
            <a:r>
              <a:rPr lang="en-US" altLang="en-US" b="1" dirty="0">
                <a:solidFill>
                  <a:srgbClr val="0070C0"/>
                </a:solidFill>
                <a:latin typeface="Times New Roman" panose="02020603050405020304" pitchFamily="18" charset="0"/>
              </a:rPr>
              <a:t>IEEE PAPER-3</a:t>
            </a:r>
            <a:br>
              <a:rPr lang="en-IN" altLang="en-US" dirty="0">
                <a:solidFill>
                  <a:srgbClr val="0070C0"/>
                </a:solidFill>
                <a:latin typeface="Calibri" panose="020F0502020204030204"/>
              </a:rPr>
            </a:br>
            <a:br>
              <a:rPr lang="en-IN" altLang="en-US" dirty="0">
                <a:solidFill>
                  <a:srgbClr val="0070C0"/>
                </a:solidFill>
                <a:latin typeface="Calibri" panose="020F0502020204030204"/>
              </a:rPr>
            </a:br>
            <a:endParaRPr lang="en-IN" dirty="0"/>
          </a:p>
        </p:txBody>
      </p:sp>
      <p:sp>
        <p:nvSpPr>
          <p:cNvPr id="3" name="Text Placeholder 2">
            <a:extLst>
              <a:ext uri="{FF2B5EF4-FFF2-40B4-BE49-F238E27FC236}">
                <a16:creationId xmlns:a16="http://schemas.microsoft.com/office/drawing/2014/main" id="{5B4861DD-0058-ED6A-60C1-E9BE237519EF}"/>
              </a:ext>
            </a:extLst>
          </p:cNvPr>
          <p:cNvSpPr>
            <a:spLocks noGrp="1"/>
          </p:cNvSpPr>
          <p:nvPr>
            <p:ph type="body" idx="1"/>
          </p:nvPr>
        </p:nvSpPr>
        <p:spPr>
          <a:xfrm>
            <a:off x="761190" y="1914145"/>
            <a:ext cx="10348912" cy="4943855"/>
          </a:xfrm>
        </p:spPr>
        <p:txBody>
          <a:bodyPr/>
          <a:lstStyle/>
          <a:p>
            <a:r>
              <a:rPr lang="en-US" sz="2000" b="1" dirty="0"/>
              <a:t>-Title</a:t>
            </a:r>
            <a:r>
              <a:rPr lang="en-US" sz="2000" dirty="0"/>
              <a:t>: Ai Health Assistant Project - by Tushar </a:t>
            </a:r>
            <a:r>
              <a:rPr lang="en-US" sz="2000" dirty="0" err="1"/>
              <a:t>Bisane</a:t>
            </a:r>
            <a:r>
              <a:rPr lang="en-US" sz="2000" dirty="0"/>
              <a:t> 2025</a:t>
            </a:r>
          </a:p>
          <a:p>
            <a:r>
              <a:rPr lang="en-US" sz="2000" b="1" dirty="0"/>
              <a:t>-Reference</a:t>
            </a:r>
            <a:r>
              <a:rPr lang="en-US" sz="2000" dirty="0"/>
              <a:t>: </a:t>
            </a:r>
            <a:r>
              <a:rPr lang="en-US" sz="2000" dirty="0">
                <a:hlinkClick r:id="rId2"/>
              </a:rPr>
              <a:t>https://www.scribd.com/document/828419263/AI-HEALTH-ASSISTANT-PROJECT-BY-    TUSHAR-BISANE-2025</a:t>
            </a:r>
            <a:endParaRPr lang="en-US" sz="2000" dirty="0"/>
          </a:p>
          <a:p>
            <a:r>
              <a:rPr lang="en-US" sz="2000" b="1" dirty="0"/>
              <a:t>-Authors</a:t>
            </a:r>
            <a:r>
              <a:rPr lang="en-US" sz="2000" dirty="0"/>
              <a:t>: Tushar </a:t>
            </a:r>
            <a:r>
              <a:rPr lang="en-US" sz="2000" dirty="0" err="1"/>
              <a:t>Bisane</a:t>
            </a:r>
            <a:endParaRPr lang="en-US" sz="2000" dirty="0"/>
          </a:p>
          <a:p>
            <a:r>
              <a:rPr lang="en-US" sz="2000" b="1" dirty="0"/>
              <a:t>-Published on</a:t>
            </a:r>
            <a:r>
              <a:rPr lang="en-US" sz="2000" dirty="0"/>
              <a:t>: July 16, 2025</a:t>
            </a:r>
          </a:p>
          <a:p>
            <a:r>
              <a:rPr lang="en-US" sz="2000" b="1" dirty="0"/>
              <a:t>-Methodology</a:t>
            </a:r>
            <a:r>
              <a:rPr lang="en-US" sz="2000" dirty="0"/>
              <a:t>:</a:t>
            </a:r>
            <a:br>
              <a:rPr lang="en-US" sz="2000" dirty="0"/>
            </a:br>
            <a:r>
              <a:rPr lang="en-US" sz="2000" dirty="0"/>
              <a:t>The project presents an AI health assistant capable of handling both web-based and voice-based patient interactions. The methodology involves deploying NLP-driven chatbots with a modular backend that manages doctor and appointment data. Appointment booking, rescheduling, and cancellation workflows are facilitated through independent serverless tools communicating via APIs. Data security is maintained using encrypted storage and compliance with medical standards, and an administrative dashboard enables hospital staff to track and manage appointments with real-time KPIs and filters. The system architecture supports multi-channel accessibility, production-grade transactional integrity, and future extensibility towards scalable, enterprise healthcare solutions.</a:t>
            </a:r>
          </a:p>
          <a:p>
            <a:endParaRPr lang="en-IN" sz="2000" dirty="0"/>
          </a:p>
        </p:txBody>
      </p:sp>
      <p:grpSp>
        <p:nvGrpSpPr>
          <p:cNvPr id="4" name="object 2">
            <a:extLst>
              <a:ext uri="{FF2B5EF4-FFF2-40B4-BE49-F238E27FC236}">
                <a16:creationId xmlns:a16="http://schemas.microsoft.com/office/drawing/2014/main" id="{FB3BD902-3402-84EE-B602-12DD1C09826A}"/>
              </a:ext>
            </a:extLst>
          </p:cNvPr>
          <p:cNvGrpSpPr/>
          <p:nvPr/>
        </p:nvGrpSpPr>
        <p:grpSpPr>
          <a:xfrm>
            <a:off x="0" y="0"/>
            <a:ext cx="12192000" cy="6858000"/>
            <a:chOff x="0" y="0"/>
            <a:chExt cx="12192000" cy="6858000"/>
          </a:xfrm>
        </p:grpSpPr>
        <p:pic>
          <p:nvPicPr>
            <p:cNvPr id="5" name="object 3">
              <a:extLst>
                <a:ext uri="{FF2B5EF4-FFF2-40B4-BE49-F238E27FC236}">
                  <a16:creationId xmlns:a16="http://schemas.microsoft.com/office/drawing/2014/main" id="{F5177C04-14EF-C4FC-CFD9-BF5804D743F0}"/>
                </a:ext>
              </a:extLst>
            </p:cNvPr>
            <p:cNvPicPr/>
            <p:nvPr/>
          </p:nvPicPr>
          <p:blipFill>
            <a:blip r:embed="rId3" cstate="print"/>
            <a:stretch>
              <a:fillRect/>
            </a:stretch>
          </p:blipFill>
          <p:spPr>
            <a:xfrm>
              <a:off x="0" y="0"/>
              <a:ext cx="12192000" cy="6858000"/>
            </a:xfrm>
            <a:prstGeom prst="rect">
              <a:avLst/>
            </a:prstGeom>
          </p:spPr>
        </p:pic>
        <p:pic>
          <p:nvPicPr>
            <p:cNvPr id="6" name="object 4">
              <a:extLst>
                <a:ext uri="{FF2B5EF4-FFF2-40B4-BE49-F238E27FC236}">
                  <a16:creationId xmlns:a16="http://schemas.microsoft.com/office/drawing/2014/main" id="{2916C2DF-EC8A-0454-33FD-101F07EEE732}"/>
                </a:ext>
              </a:extLst>
            </p:cNvPr>
            <p:cNvPicPr/>
            <p:nvPr/>
          </p:nvPicPr>
          <p:blipFill>
            <a:blip r:embed="rId4" cstate="print"/>
            <a:stretch>
              <a:fillRect/>
            </a:stretch>
          </p:blipFill>
          <p:spPr>
            <a:xfrm>
              <a:off x="0" y="0"/>
              <a:ext cx="12172950" cy="6858000"/>
            </a:xfrm>
            <a:prstGeom prst="rect">
              <a:avLst/>
            </a:prstGeom>
          </p:spPr>
        </p:pic>
        <p:pic>
          <p:nvPicPr>
            <p:cNvPr id="7" name="object 5">
              <a:extLst>
                <a:ext uri="{FF2B5EF4-FFF2-40B4-BE49-F238E27FC236}">
                  <a16:creationId xmlns:a16="http://schemas.microsoft.com/office/drawing/2014/main" id="{B572BBC6-1190-DD82-327E-360CDB839984}"/>
                </a:ext>
              </a:extLst>
            </p:cNvPr>
            <p:cNvPicPr/>
            <p:nvPr/>
          </p:nvPicPr>
          <p:blipFill>
            <a:blip r:embed="rId5" cstate="print"/>
            <a:stretch>
              <a:fillRect/>
            </a:stretch>
          </p:blipFill>
          <p:spPr>
            <a:xfrm>
              <a:off x="9772650" y="161925"/>
              <a:ext cx="2181225" cy="600075"/>
            </a:xfrm>
            <a:prstGeom prst="rect">
              <a:avLst/>
            </a:prstGeom>
          </p:spPr>
        </p:pic>
      </p:grpSp>
    </p:spTree>
    <p:extLst>
      <p:ext uri="{BB962C8B-B14F-4D97-AF65-F5344CB8AC3E}">
        <p14:creationId xmlns:p14="http://schemas.microsoft.com/office/powerpoint/2010/main" val="3805315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B5B43-3C15-F3BA-9961-091EE40DD7A0}"/>
              </a:ext>
            </a:extLst>
          </p:cNvPr>
          <p:cNvSpPr>
            <a:spLocks noGrp="1"/>
          </p:cNvSpPr>
          <p:nvPr>
            <p:ph type="title"/>
          </p:nvPr>
        </p:nvSpPr>
        <p:spPr>
          <a:xfrm>
            <a:off x="746442" y="227711"/>
            <a:ext cx="6375717" cy="1448689"/>
          </a:xfrm>
        </p:spPr>
        <p:txBody>
          <a:bodyPr/>
          <a:lstStyle/>
          <a:p>
            <a:r>
              <a:rPr lang="en-US" altLang="zh-CN" b="1" dirty="0">
                <a:solidFill>
                  <a:srgbClr val="0070C0"/>
                </a:solidFill>
                <a:latin typeface="Times New Roman" panose="02020603050405020304" pitchFamily="18" charset="0"/>
              </a:rPr>
              <a:t>Literature Survey</a:t>
            </a:r>
            <a:br>
              <a:rPr lang="en-US" altLang="zh-CN" b="1" dirty="0">
                <a:solidFill>
                  <a:srgbClr val="0070C0"/>
                </a:solidFill>
                <a:latin typeface="Times New Roman" panose="02020603050405020304" pitchFamily="18" charset="0"/>
              </a:rPr>
            </a:br>
            <a:r>
              <a:rPr lang="en-US" altLang="en-US" b="1" dirty="0">
                <a:solidFill>
                  <a:srgbClr val="0070C0"/>
                </a:solidFill>
                <a:latin typeface="Times New Roman" panose="02020603050405020304" pitchFamily="18" charset="0"/>
              </a:rPr>
              <a:t>IEEE PAPER-4</a:t>
            </a:r>
            <a:br>
              <a:rPr lang="en-IN" altLang="en-US" dirty="0">
                <a:solidFill>
                  <a:srgbClr val="0070C0"/>
                </a:solidFill>
                <a:latin typeface="Calibri" panose="020F0502020204030204"/>
              </a:rPr>
            </a:br>
            <a:br>
              <a:rPr lang="en-IN" altLang="en-US" dirty="0">
                <a:solidFill>
                  <a:srgbClr val="0070C0"/>
                </a:solidFill>
                <a:latin typeface="Calibri" panose="020F0502020204030204"/>
              </a:rPr>
            </a:br>
            <a:endParaRPr lang="en-IN" dirty="0"/>
          </a:p>
        </p:txBody>
      </p:sp>
      <p:sp>
        <p:nvSpPr>
          <p:cNvPr id="3" name="Text Placeholder 2">
            <a:extLst>
              <a:ext uri="{FF2B5EF4-FFF2-40B4-BE49-F238E27FC236}">
                <a16:creationId xmlns:a16="http://schemas.microsoft.com/office/drawing/2014/main" id="{2D434E62-E3A1-B6CA-9F4B-CB9770ADF2C3}"/>
              </a:ext>
            </a:extLst>
          </p:cNvPr>
          <p:cNvSpPr>
            <a:spLocks noGrp="1"/>
          </p:cNvSpPr>
          <p:nvPr>
            <p:ph type="body" idx="1"/>
          </p:nvPr>
        </p:nvSpPr>
        <p:spPr>
          <a:xfrm>
            <a:off x="746442" y="1828800"/>
            <a:ext cx="11048999" cy="4616648"/>
          </a:xfrm>
        </p:spPr>
        <p:txBody>
          <a:bodyPr/>
          <a:lstStyle/>
          <a:p>
            <a:r>
              <a:rPr lang="en-US" sz="2000" b="1" dirty="0"/>
              <a:t>-Title</a:t>
            </a:r>
            <a:r>
              <a:rPr lang="en-US" sz="2000" dirty="0"/>
              <a:t>: Conversational Medical AI: Ready for Practice</a:t>
            </a:r>
          </a:p>
          <a:p>
            <a:r>
              <a:rPr lang="en-US" sz="2000" b="1" dirty="0"/>
              <a:t>-Reference</a:t>
            </a:r>
            <a:r>
              <a:rPr lang="en-US" sz="2000" dirty="0"/>
              <a:t>: </a:t>
            </a:r>
            <a:r>
              <a:rPr lang="en-US" sz="2000" dirty="0">
                <a:hlinkClick r:id="rId2"/>
              </a:rPr>
              <a:t>https://arxiv.org/abs/2411.12808</a:t>
            </a:r>
            <a:endParaRPr lang="en-US" sz="2000" dirty="0"/>
          </a:p>
          <a:p>
            <a:r>
              <a:rPr lang="en-US" sz="2000" b="1" dirty="0"/>
              <a:t>-Authors</a:t>
            </a:r>
            <a:r>
              <a:rPr lang="en-US" sz="2000" dirty="0"/>
              <a:t>: Antoine </a:t>
            </a:r>
            <a:r>
              <a:rPr lang="en-US" sz="2000" dirty="0" err="1"/>
              <a:t>Lizée</a:t>
            </a:r>
            <a:r>
              <a:rPr lang="en-US" sz="2000" dirty="0"/>
              <a:t>, Pierre-Auguste </a:t>
            </a:r>
            <a:r>
              <a:rPr lang="en-US" sz="2000" dirty="0" err="1"/>
              <a:t>Beaucoté</a:t>
            </a:r>
            <a:r>
              <a:rPr lang="en-US" sz="2000" dirty="0"/>
              <a:t>, James Whitbeck, Marion </a:t>
            </a:r>
            <a:r>
              <a:rPr lang="en-US" sz="2000" dirty="0" err="1"/>
              <a:t>Doumeingts</a:t>
            </a:r>
            <a:r>
              <a:rPr lang="en-US" sz="2000" dirty="0"/>
              <a:t>, Anaël </a:t>
            </a:r>
            <a:r>
              <a:rPr lang="en-US" sz="2000" dirty="0" err="1"/>
              <a:t>Beaugnon</a:t>
            </a:r>
            <a:r>
              <a:rPr lang="en-US" sz="2000" dirty="0"/>
              <a:t>, Isabelle Feldhaus</a:t>
            </a:r>
          </a:p>
          <a:p>
            <a:r>
              <a:rPr lang="en-US" sz="2000" b="1" dirty="0"/>
              <a:t>-Published on</a:t>
            </a:r>
            <a:r>
              <a:rPr lang="en-US" sz="2000" dirty="0"/>
              <a:t>: November 18, 2024</a:t>
            </a:r>
          </a:p>
          <a:p>
            <a:r>
              <a:rPr lang="en-US" sz="2000" b="1" dirty="0"/>
              <a:t>-Methodology</a:t>
            </a:r>
            <a:r>
              <a:rPr lang="en-US" sz="2000" dirty="0"/>
              <a:t>:</a:t>
            </a:r>
            <a:br>
              <a:rPr lang="en-US" sz="2000" dirty="0"/>
            </a:br>
            <a:r>
              <a:rPr lang="en-US" sz="2000" dirty="0"/>
              <a:t>This paper describes the deployment and physician-supervised evaluation of a large language model (LLM)-based conversational agent in a real medical setting. The agent was integrated into a chat service for patient support, automating the entire patient interaction lifecycle—answering queries, providing medical information, and managing consultations. The methodology relied on seamless integration between a multimodal web chat interface and a secure backend, leveraging microservices to execute real actions such as booking appointments. Safety was maintained through physician oversight, and features like multi-turn dialogue management, automatic conversation history, and real-time monitoring dashboards were highlighted as essential architectural components for successful healthcare AI.</a:t>
            </a:r>
          </a:p>
          <a:p>
            <a:endParaRPr lang="en-IN" sz="2000" dirty="0"/>
          </a:p>
        </p:txBody>
      </p:sp>
      <p:grpSp>
        <p:nvGrpSpPr>
          <p:cNvPr id="4" name="object 2">
            <a:extLst>
              <a:ext uri="{FF2B5EF4-FFF2-40B4-BE49-F238E27FC236}">
                <a16:creationId xmlns:a16="http://schemas.microsoft.com/office/drawing/2014/main" id="{B1262325-5EA4-7224-9DF1-D2AB511F43C1}"/>
              </a:ext>
            </a:extLst>
          </p:cNvPr>
          <p:cNvGrpSpPr/>
          <p:nvPr/>
        </p:nvGrpSpPr>
        <p:grpSpPr>
          <a:xfrm>
            <a:off x="0" y="0"/>
            <a:ext cx="12192000" cy="6858000"/>
            <a:chOff x="0" y="0"/>
            <a:chExt cx="12192000" cy="6858000"/>
          </a:xfrm>
        </p:grpSpPr>
        <p:pic>
          <p:nvPicPr>
            <p:cNvPr id="5" name="object 3">
              <a:extLst>
                <a:ext uri="{FF2B5EF4-FFF2-40B4-BE49-F238E27FC236}">
                  <a16:creationId xmlns:a16="http://schemas.microsoft.com/office/drawing/2014/main" id="{810427C7-7E6D-DAA8-AFEB-A1DDA9833A21}"/>
                </a:ext>
              </a:extLst>
            </p:cNvPr>
            <p:cNvPicPr/>
            <p:nvPr/>
          </p:nvPicPr>
          <p:blipFill>
            <a:blip r:embed="rId3" cstate="print"/>
            <a:stretch>
              <a:fillRect/>
            </a:stretch>
          </p:blipFill>
          <p:spPr>
            <a:xfrm>
              <a:off x="0" y="0"/>
              <a:ext cx="12192000" cy="6858000"/>
            </a:xfrm>
            <a:prstGeom prst="rect">
              <a:avLst/>
            </a:prstGeom>
          </p:spPr>
        </p:pic>
        <p:pic>
          <p:nvPicPr>
            <p:cNvPr id="6" name="object 4">
              <a:extLst>
                <a:ext uri="{FF2B5EF4-FFF2-40B4-BE49-F238E27FC236}">
                  <a16:creationId xmlns:a16="http://schemas.microsoft.com/office/drawing/2014/main" id="{3CB9FD42-B3C6-F749-41C3-8B9B9C488AB4}"/>
                </a:ext>
              </a:extLst>
            </p:cNvPr>
            <p:cNvPicPr/>
            <p:nvPr/>
          </p:nvPicPr>
          <p:blipFill>
            <a:blip r:embed="rId4" cstate="print"/>
            <a:stretch>
              <a:fillRect/>
            </a:stretch>
          </p:blipFill>
          <p:spPr>
            <a:xfrm>
              <a:off x="0" y="0"/>
              <a:ext cx="12172950" cy="6858000"/>
            </a:xfrm>
            <a:prstGeom prst="rect">
              <a:avLst/>
            </a:prstGeom>
          </p:spPr>
        </p:pic>
        <p:pic>
          <p:nvPicPr>
            <p:cNvPr id="7" name="object 5">
              <a:extLst>
                <a:ext uri="{FF2B5EF4-FFF2-40B4-BE49-F238E27FC236}">
                  <a16:creationId xmlns:a16="http://schemas.microsoft.com/office/drawing/2014/main" id="{39C1846C-3270-257A-BDF5-13FB0CBA3DD1}"/>
                </a:ext>
              </a:extLst>
            </p:cNvPr>
            <p:cNvPicPr/>
            <p:nvPr/>
          </p:nvPicPr>
          <p:blipFill>
            <a:blip r:embed="rId5" cstate="print"/>
            <a:stretch>
              <a:fillRect/>
            </a:stretch>
          </p:blipFill>
          <p:spPr>
            <a:xfrm>
              <a:off x="9772650" y="161925"/>
              <a:ext cx="2181225" cy="600075"/>
            </a:xfrm>
            <a:prstGeom prst="rect">
              <a:avLst/>
            </a:prstGeom>
          </p:spPr>
        </p:pic>
      </p:grpSp>
    </p:spTree>
    <p:extLst>
      <p:ext uri="{BB962C8B-B14F-4D97-AF65-F5344CB8AC3E}">
        <p14:creationId xmlns:p14="http://schemas.microsoft.com/office/powerpoint/2010/main" val="898122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0B357-78D6-0209-B0D8-ECFAF5F02F82}"/>
              </a:ext>
            </a:extLst>
          </p:cNvPr>
          <p:cNvSpPr>
            <a:spLocks noGrp="1"/>
          </p:cNvSpPr>
          <p:nvPr>
            <p:ph type="title"/>
          </p:nvPr>
        </p:nvSpPr>
        <p:spPr>
          <a:xfrm>
            <a:off x="746442" y="227711"/>
            <a:ext cx="6375717" cy="1448689"/>
          </a:xfrm>
        </p:spPr>
        <p:txBody>
          <a:bodyPr/>
          <a:lstStyle/>
          <a:p>
            <a:r>
              <a:rPr lang="en-US" altLang="zh-CN" b="1" dirty="0">
                <a:solidFill>
                  <a:srgbClr val="0070C0"/>
                </a:solidFill>
                <a:latin typeface="Times New Roman" panose="02020603050405020304" pitchFamily="18" charset="0"/>
              </a:rPr>
              <a:t>Literature Survey</a:t>
            </a:r>
            <a:br>
              <a:rPr lang="en-US" altLang="zh-CN" b="1" dirty="0">
                <a:solidFill>
                  <a:srgbClr val="0070C0"/>
                </a:solidFill>
                <a:latin typeface="Times New Roman" panose="02020603050405020304" pitchFamily="18" charset="0"/>
              </a:rPr>
            </a:br>
            <a:r>
              <a:rPr lang="en-US" altLang="en-US" b="1" dirty="0">
                <a:solidFill>
                  <a:srgbClr val="0070C0"/>
                </a:solidFill>
                <a:latin typeface="Times New Roman" panose="02020603050405020304" pitchFamily="18" charset="0"/>
              </a:rPr>
              <a:t>IEEE PAPER-5</a:t>
            </a:r>
            <a:br>
              <a:rPr lang="en-US" altLang="en-US" b="1" dirty="0">
                <a:solidFill>
                  <a:srgbClr val="0070C0"/>
                </a:solidFill>
                <a:latin typeface="Times New Roman" panose="02020603050405020304" pitchFamily="18" charset="0"/>
              </a:rPr>
            </a:br>
            <a:br>
              <a:rPr lang="en-IN" altLang="en-US" dirty="0">
                <a:solidFill>
                  <a:srgbClr val="0070C0"/>
                </a:solidFill>
                <a:latin typeface="Calibri" panose="020F0502020204030204"/>
              </a:rPr>
            </a:br>
            <a:br>
              <a:rPr lang="en-IN" altLang="en-US" dirty="0">
                <a:solidFill>
                  <a:srgbClr val="0070C0"/>
                </a:solidFill>
                <a:latin typeface="Calibri" panose="020F0502020204030204"/>
              </a:rPr>
            </a:br>
            <a:endParaRPr lang="en-IN" dirty="0"/>
          </a:p>
        </p:txBody>
      </p:sp>
      <p:sp>
        <p:nvSpPr>
          <p:cNvPr id="3" name="Text Placeholder 2">
            <a:extLst>
              <a:ext uri="{FF2B5EF4-FFF2-40B4-BE49-F238E27FC236}">
                <a16:creationId xmlns:a16="http://schemas.microsoft.com/office/drawing/2014/main" id="{A72EEFAF-4BC5-9E92-D252-C5BC662FA7AF}"/>
              </a:ext>
            </a:extLst>
          </p:cNvPr>
          <p:cNvSpPr>
            <a:spLocks noGrp="1"/>
          </p:cNvSpPr>
          <p:nvPr>
            <p:ph type="body" idx="1"/>
          </p:nvPr>
        </p:nvSpPr>
        <p:spPr>
          <a:xfrm>
            <a:off x="746442" y="1761745"/>
            <a:ext cx="10501312" cy="4924425"/>
          </a:xfrm>
        </p:spPr>
        <p:txBody>
          <a:bodyPr/>
          <a:lstStyle/>
          <a:p>
            <a:r>
              <a:rPr lang="en-US" sz="2000" b="1" dirty="0"/>
              <a:t>-Title</a:t>
            </a:r>
            <a:r>
              <a:rPr lang="en-US" sz="2000" dirty="0"/>
              <a:t>: Artificial Intelligence-Based Conversational Agents for Chronic Diseases: Systematic Literature Review</a:t>
            </a:r>
          </a:p>
          <a:p>
            <a:r>
              <a:rPr lang="en-US" sz="2000" b="1" dirty="0"/>
              <a:t>-Reference</a:t>
            </a:r>
            <a:r>
              <a:rPr lang="en-US" sz="2000" dirty="0"/>
              <a:t>: </a:t>
            </a:r>
            <a:r>
              <a:rPr lang="en-US" sz="2000" dirty="0">
                <a:hlinkClick r:id="rId2"/>
              </a:rPr>
              <a:t>https://www.jmir.org/2020/9/e20701/</a:t>
            </a:r>
            <a:endParaRPr lang="en-US" sz="2000" dirty="0"/>
          </a:p>
          <a:p>
            <a:r>
              <a:rPr lang="en-US" sz="2000" b="1" dirty="0"/>
              <a:t>-Authors</a:t>
            </a:r>
            <a:r>
              <a:rPr lang="en-US" sz="2000" dirty="0"/>
              <a:t>: Sanne C van </a:t>
            </a:r>
            <a:r>
              <a:rPr lang="en-US" sz="2000" dirty="0" err="1"/>
              <a:t>Velthoven</a:t>
            </a:r>
            <a:r>
              <a:rPr lang="en-US" sz="2000" dirty="0"/>
              <a:t>, David Coyle, John Powell</a:t>
            </a:r>
          </a:p>
          <a:p>
            <a:r>
              <a:rPr lang="en-US" sz="2000" b="1" dirty="0"/>
              <a:t>-Published on</a:t>
            </a:r>
            <a:r>
              <a:rPr lang="en-US" sz="2000" dirty="0"/>
              <a:t>: September 13, 2020</a:t>
            </a:r>
          </a:p>
          <a:p>
            <a:r>
              <a:rPr lang="en-US" sz="2000" b="1" dirty="0"/>
              <a:t>-Methodology</a:t>
            </a:r>
            <a:r>
              <a:rPr lang="en-US" sz="2000" dirty="0"/>
              <a:t>:</a:t>
            </a:r>
            <a:br>
              <a:rPr lang="en-US" sz="2000" dirty="0"/>
            </a:br>
            <a:r>
              <a:rPr lang="en-US" sz="2000" dirty="0"/>
              <a:t>This systematic review examines multiple AI-based conversational agents used in healthcare, especially for the management of chronic diseases. Methodologies explored include natural language processing and the use of multimodal interfaces (such as web chat and telephony) to increase patient engagement. Systems described in the review typically follow a layered architecture: frontend patient interfaces, middleware logic, and secure backend data stores. Methodological emphasis is placed on data privacy, reliability, interoperability, and operational efficiency, with dashboards for monitoring and real-time communication (voice/text) central to many reviewed solutions. The review highlights the importance of transaction safety and robust integration to support appointment management, patient education, and support functions.</a:t>
            </a:r>
          </a:p>
          <a:p>
            <a:endParaRPr lang="en-IN" sz="2000" dirty="0"/>
          </a:p>
        </p:txBody>
      </p:sp>
      <p:grpSp>
        <p:nvGrpSpPr>
          <p:cNvPr id="4" name="object 2">
            <a:extLst>
              <a:ext uri="{FF2B5EF4-FFF2-40B4-BE49-F238E27FC236}">
                <a16:creationId xmlns:a16="http://schemas.microsoft.com/office/drawing/2014/main" id="{FE807133-9A98-22C8-A9FF-F13D9A0D2007}"/>
              </a:ext>
            </a:extLst>
          </p:cNvPr>
          <p:cNvGrpSpPr/>
          <p:nvPr/>
        </p:nvGrpSpPr>
        <p:grpSpPr>
          <a:xfrm>
            <a:off x="0" y="0"/>
            <a:ext cx="12192000" cy="6858000"/>
            <a:chOff x="0" y="0"/>
            <a:chExt cx="12192000" cy="6858000"/>
          </a:xfrm>
        </p:grpSpPr>
        <p:pic>
          <p:nvPicPr>
            <p:cNvPr id="5" name="object 3">
              <a:extLst>
                <a:ext uri="{FF2B5EF4-FFF2-40B4-BE49-F238E27FC236}">
                  <a16:creationId xmlns:a16="http://schemas.microsoft.com/office/drawing/2014/main" id="{1E401E1F-FD28-E86A-FF34-BF78F69BD683}"/>
                </a:ext>
              </a:extLst>
            </p:cNvPr>
            <p:cNvPicPr/>
            <p:nvPr/>
          </p:nvPicPr>
          <p:blipFill>
            <a:blip r:embed="rId3" cstate="print"/>
            <a:stretch>
              <a:fillRect/>
            </a:stretch>
          </p:blipFill>
          <p:spPr>
            <a:xfrm>
              <a:off x="0" y="0"/>
              <a:ext cx="12192000" cy="6858000"/>
            </a:xfrm>
            <a:prstGeom prst="rect">
              <a:avLst/>
            </a:prstGeom>
          </p:spPr>
        </p:pic>
        <p:pic>
          <p:nvPicPr>
            <p:cNvPr id="6" name="object 4">
              <a:extLst>
                <a:ext uri="{FF2B5EF4-FFF2-40B4-BE49-F238E27FC236}">
                  <a16:creationId xmlns:a16="http://schemas.microsoft.com/office/drawing/2014/main" id="{2BBE6AEA-D036-3B40-2DF8-AE587D233A95}"/>
                </a:ext>
              </a:extLst>
            </p:cNvPr>
            <p:cNvPicPr/>
            <p:nvPr/>
          </p:nvPicPr>
          <p:blipFill>
            <a:blip r:embed="rId4" cstate="print"/>
            <a:stretch>
              <a:fillRect/>
            </a:stretch>
          </p:blipFill>
          <p:spPr>
            <a:xfrm>
              <a:off x="0" y="0"/>
              <a:ext cx="12172950" cy="6858000"/>
            </a:xfrm>
            <a:prstGeom prst="rect">
              <a:avLst/>
            </a:prstGeom>
          </p:spPr>
        </p:pic>
        <p:pic>
          <p:nvPicPr>
            <p:cNvPr id="7" name="object 5">
              <a:extLst>
                <a:ext uri="{FF2B5EF4-FFF2-40B4-BE49-F238E27FC236}">
                  <a16:creationId xmlns:a16="http://schemas.microsoft.com/office/drawing/2014/main" id="{A2C2BE6E-1EC4-2F8F-9DCD-A57085479815}"/>
                </a:ext>
              </a:extLst>
            </p:cNvPr>
            <p:cNvPicPr/>
            <p:nvPr/>
          </p:nvPicPr>
          <p:blipFill>
            <a:blip r:embed="rId5" cstate="print"/>
            <a:stretch>
              <a:fillRect/>
            </a:stretch>
          </p:blipFill>
          <p:spPr>
            <a:xfrm>
              <a:off x="9772650" y="161925"/>
              <a:ext cx="2181225" cy="600075"/>
            </a:xfrm>
            <a:prstGeom prst="rect">
              <a:avLst/>
            </a:prstGeom>
          </p:spPr>
        </p:pic>
      </p:grpSp>
    </p:spTree>
    <p:extLst>
      <p:ext uri="{BB962C8B-B14F-4D97-AF65-F5344CB8AC3E}">
        <p14:creationId xmlns:p14="http://schemas.microsoft.com/office/powerpoint/2010/main" val="3125774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FD5CE-B174-C24A-706C-06BF1F2A0342}"/>
              </a:ext>
            </a:extLst>
          </p:cNvPr>
          <p:cNvSpPr>
            <a:spLocks noGrp="1"/>
          </p:cNvSpPr>
          <p:nvPr>
            <p:ph type="title"/>
          </p:nvPr>
        </p:nvSpPr>
        <p:spPr>
          <a:xfrm>
            <a:off x="726777" y="533400"/>
            <a:ext cx="6375717" cy="677108"/>
          </a:xfrm>
        </p:spPr>
        <p:txBody>
          <a:bodyPr/>
          <a:lstStyle/>
          <a:p>
            <a:r>
              <a:rPr lang="en-US" altLang="en-IN" dirty="0">
                <a:solidFill>
                  <a:srgbClr val="0070C0"/>
                </a:solidFill>
              </a:rPr>
              <a:t>Requirements</a:t>
            </a:r>
          </a:p>
        </p:txBody>
      </p:sp>
      <p:sp>
        <p:nvSpPr>
          <p:cNvPr id="3" name="Text Placeholder 2">
            <a:extLst>
              <a:ext uri="{FF2B5EF4-FFF2-40B4-BE49-F238E27FC236}">
                <a16:creationId xmlns:a16="http://schemas.microsoft.com/office/drawing/2014/main" id="{AC0985DA-AC1D-5F89-5A1E-67E8F256635F}"/>
              </a:ext>
            </a:extLst>
          </p:cNvPr>
          <p:cNvSpPr>
            <a:spLocks noGrp="1"/>
          </p:cNvSpPr>
          <p:nvPr>
            <p:ph type="body" idx="1"/>
          </p:nvPr>
        </p:nvSpPr>
        <p:spPr>
          <a:xfrm>
            <a:off x="838200" y="1547867"/>
            <a:ext cx="10114915" cy="4801314"/>
          </a:xfrm>
        </p:spPr>
        <p:txBody>
          <a:bodyPr/>
          <a:lstStyle/>
          <a:p>
            <a:r>
              <a:rPr lang="en-IN" sz="2400" b="1" dirty="0"/>
              <a:t>Software Requirements</a:t>
            </a:r>
          </a:p>
          <a:p>
            <a:r>
              <a:rPr lang="en-IN" sz="2400" dirty="0"/>
              <a:t>Frontend: HTML, Tailwind CSS, JS</a:t>
            </a:r>
          </a:p>
          <a:p>
            <a:r>
              <a:rPr lang="en-IN" sz="2400" dirty="0"/>
              <a:t>Backend: Netlify Functions (Node.js)</a:t>
            </a:r>
          </a:p>
          <a:p>
            <a:r>
              <a:rPr lang="en-IN" sz="2400" dirty="0"/>
              <a:t>Database: </a:t>
            </a:r>
            <a:r>
              <a:rPr lang="en-IN" sz="2400" dirty="0" err="1"/>
              <a:t>Supabase</a:t>
            </a:r>
            <a:r>
              <a:rPr lang="en-IN" sz="2400" dirty="0"/>
              <a:t> (PostgreSQL)</a:t>
            </a:r>
          </a:p>
          <a:p>
            <a:r>
              <a:rPr lang="en-IN" sz="2400" dirty="0"/>
              <a:t>AI: Google Gemini API</a:t>
            </a:r>
          </a:p>
          <a:p>
            <a:r>
              <a:rPr lang="en-IN" sz="2400" dirty="0"/>
              <a:t>Telephony: </a:t>
            </a:r>
            <a:r>
              <a:rPr lang="en-IN" sz="2400" dirty="0" err="1"/>
              <a:t>Exotel</a:t>
            </a:r>
            <a:endParaRPr lang="en-IN" sz="2400" dirty="0"/>
          </a:p>
          <a:p>
            <a:r>
              <a:rPr lang="en-IN" sz="2400" dirty="0"/>
              <a:t>Dev &amp; Deploy: GitHub + Netlify</a:t>
            </a:r>
          </a:p>
          <a:p>
            <a:r>
              <a:rPr lang="en-IN" sz="2400" dirty="0"/>
              <a:t>Voice: Web Speech API</a:t>
            </a:r>
          </a:p>
          <a:p>
            <a:r>
              <a:rPr lang="en-IN" sz="2400" b="1" dirty="0"/>
              <a:t>Hardware Requirements</a:t>
            </a:r>
          </a:p>
          <a:p>
            <a:r>
              <a:rPr lang="en-IN" sz="2400" dirty="0"/>
              <a:t>Client: PC, laptop, or smartphone with mic &amp; internet</a:t>
            </a:r>
          </a:p>
          <a:p>
            <a:r>
              <a:rPr lang="en-IN" sz="2400" dirty="0"/>
              <a:t>Server/Cloud: Netlify + </a:t>
            </a:r>
            <a:r>
              <a:rPr lang="en-IN" sz="2400" dirty="0" err="1"/>
              <a:t>Supabase</a:t>
            </a:r>
            <a:r>
              <a:rPr lang="en-IN" sz="2400" dirty="0"/>
              <a:t> + internet for telephony</a:t>
            </a:r>
          </a:p>
          <a:p>
            <a:r>
              <a:rPr lang="en-IN" sz="2400" dirty="0"/>
              <a:t>Optional: Headset for better voice quality</a:t>
            </a:r>
          </a:p>
          <a:p>
            <a:endParaRPr lang="en-IN" sz="2400" dirty="0"/>
          </a:p>
        </p:txBody>
      </p:sp>
      <p:grpSp>
        <p:nvGrpSpPr>
          <p:cNvPr id="4" name="object 2">
            <a:extLst>
              <a:ext uri="{FF2B5EF4-FFF2-40B4-BE49-F238E27FC236}">
                <a16:creationId xmlns:a16="http://schemas.microsoft.com/office/drawing/2014/main" id="{D9BE5B56-F808-DFB4-AF73-0CE1CF8D3B2E}"/>
              </a:ext>
            </a:extLst>
          </p:cNvPr>
          <p:cNvGrpSpPr/>
          <p:nvPr/>
        </p:nvGrpSpPr>
        <p:grpSpPr>
          <a:xfrm>
            <a:off x="0" y="0"/>
            <a:ext cx="12192000" cy="6858000"/>
            <a:chOff x="0" y="0"/>
            <a:chExt cx="12192000" cy="6858000"/>
          </a:xfrm>
        </p:grpSpPr>
        <p:pic>
          <p:nvPicPr>
            <p:cNvPr id="5" name="object 3">
              <a:extLst>
                <a:ext uri="{FF2B5EF4-FFF2-40B4-BE49-F238E27FC236}">
                  <a16:creationId xmlns:a16="http://schemas.microsoft.com/office/drawing/2014/main" id="{185FDEAF-8970-1902-8225-2F98009C344B}"/>
                </a:ext>
              </a:extLst>
            </p:cNvPr>
            <p:cNvPicPr/>
            <p:nvPr/>
          </p:nvPicPr>
          <p:blipFill>
            <a:blip r:embed="rId2" cstate="print"/>
            <a:stretch>
              <a:fillRect/>
            </a:stretch>
          </p:blipFill>
          <p:spPr>
            <a:xfrm>
              <a:off x="0" y="0"/>
              <a:ext cx="12192000" cy="6858000"/>
            </a:xfrm>
            <a:prstGeom prst="rect">
              <a:avLst/>
            </a:prstGeom>
          </p:spPr>
        </p:pic>
        <p:pic>
          <p:nvPicPr>
            <p:cNvPr id="6" name="object 4">
              <a:extLst>
                <a:ext uri="{FF2B5EF4-FFF2-40B4-BE49-F238E27FC236}">
                  <a16:creationId xmlns:a16="http://schemas.microsoft.com/office/drawing/2014/main" id="{7F6D0DAE-86CD-E683-B21F-00B90291FCFC}"/>
                </a:ext>
              </a:extLst>
            </p:cNvPr>
            <p:cNvPicPr/>
            <p:nvPr/>
          </p:nvPicPr>
          <p:blipFill>
            <a:blip r:embed="rId3" cstate="print"/>
            <a:stretch>
              <a:fillRect/>
            </a:stretch>
          </p:blipFill>
          <p:spPr>
            <a:xfrm>
              <a:off x="0" y="0"/>
              <a:ext cx="12172950" cy="6858000"/>
            </a:xfrm>
            <a:prstGeom prst="rect">
              <a:avLst/>
            </a:prstGeom>
          </p:spPr>
        </p:pic>
        <p:pic>
          <p:nvPicPr>
            <p:cNvPr id="7" name="object 5">
              <a:extLst>
                <a:ext uri="{FF2B5EF4-FFF2-40B4-BE49-F238E27FC236}">
                  <a16:creationId xmlns:a16="http://schemas.microsoft.com/office/drawing/2014/main" id="{7811F7AD-CC51-D126-5F94-C1E5CF00BB78}"/>
                </a:ext>
              </a:extLst>
            </p:cNvPr>
            <p:cNvPicPr/>
            <p:nvPr/>
          </p:nvPicPr>
          <p:blipFill>
            <a:blip r:embed="rId4" cstate="print"/>
            <a:stretch>
              <a:fillRect/>
            </a:stretch>
          </p:blipFill>
          <p:spPr>
            <a:xfrm>
              <a:off x="9772650" y="161925"/>
              <a:ext cx="2181225" cy="600075"/>
            </a:xfrm>
            <a:prstGeom prst="rect">
              <a:avLst/>
            </a:prstGeom>
          </p:spPr>
        </p:pic>
      </p:grpSp>
    </p:spTree>
    <p:extLst>
      <p:ext uri="{BB962C8B-B14F-4D97-AF65-F5344CB8AC3E}">
        <p14:creationId xmlns:p14="http://schemas.microsoft.com/office/powerpoint/2010/main" val="3835977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527B5-08E9-F85F-FBBD-30DDCFCA6797}"/>
              </a:ext>
            </a:extLst>
          </p:cNvPr>
          <p:cNvSpPr>
            <a:spLocks noGrp="1"/>
          </p:cNvSpPr>
          <p:nvPr>
            <p:ph type="title"/>
          </p:nvPr>
        </p:nvSpPr>
        <p:spPr>
          <a:xfrm>
            <a:off x="914400" y="671603"/>
            <a:ext cx="6375717" cy="839089"/>
          </a:xfrm>
        </p:spPr>
        <p:txBody>
          <a:bodyPr/>
          <a:lstStyle/>
          <a:p>
            <a:r>
              <a:rPr lang="en-US" dirty="0">
                <a:solidFill>
                  <a:srgbClr val="0070C0"/>
                </a:solidFill>
                <a:latin typeface="Times New Roman" panose="02020603050405020304" pitchFamily="18" charset="0"/>
                <a:cs typeface="Times New Roman" panose="02020603050405020304" pitchFamily="18" charset="0"/>
              </a:rPr>
              <a:t>Real Time Applications</a:t>
            </a:r>
            <a:br>
              <a:rPr lang="en-US" dirty="0">
                <a:solidFill>
                  <a:srgbClr val="0070C0"/>
                </a:solidFill>
                <a:latin typeface="Times New Roman" panose="02020603050405020304" pitchFamily="18" charset="0"/>
                <a:cs typeface="Times New Roman" panose="02020603050405020304" pitchFamily="18" charset="0"/>
              </a:rPr>
            </a:br>
            <a:endParaRPr lang="en-IN" dirty="0"/>
          </a:p>
        </p:txBody>
      </p:sp>
      <p:sp>
        <p:nvSpPr>
          <p:cNvPr id="4" name="Rectangle 1">
            <a:extLst>
              <a:ext uri="{FF2B5EF4-FFF2-40B4-BE49-F238E27FC236}">
                <a16:creationId xmlns:a16="http://schemas.microsoft.com/office/drawing/2014/main" id="{9BBA1FCF-F2D6-5745-AA07-78D44F86ED4B}"/>
              </a:ext>
            </a:extLst>
          </p:cNvPr>
          <p:cNvSpPr>
            <a:spLocks noGrp="1" noChangeArrowheads="1"/>
          </p:cNvSpPr>
          <p:nvPr>
            <p:ph type="body" idx="1"/>
          </p:nvPr>
        </p:nvSpPr>
        <p:spPr bwMode="auto">
          <a:xfrm>
            <a:off x="914400" y="1828800"/>
            <a:ext cx="10363199"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Instant Appointment Booking:</a:t>
            </a:r>
            <a:r>
              <a:rPr kumimoji="0" lang="en-US" altLang="en-US" sz="2400" b="0" i="0" u="none" strike="noStrike" cap="none" normalizeH="0" baseline="0" dirty="0">
                <a:ln>
                  <a:noFill/>
                </a:ln>
                <a:solidFill>
                  <a:schemeClr val="tx1"/>
                </a:solidFill>
                <a:effectLst/>
                <a:latin typeface="Arial" panose="020B0604020202020204" pitchFamily="34" charset="0"/>
              </a:rPr>
              <a:t> Patients can book, reschedule, or cancel appointments immediately.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Voice-Based Interaction:</a:t>
            </a:r>
            <a:r>
              <a:rPr kumimoji="0" lang="en-US" altLang="en-US" sz="2400" b="0" i="0" u="none" strike="noStrike" cap="none" normalizeH="0" baseline="0" dirty="0">
                <a:ln>
                  <a:noFill/>
                </a:ln>
                <a:solidFill>
                  <a:schemeClr val="tx1"/>
                </a:solidFill>
                <a:effectLst/>
                <a:latin typeface="Arial" panose="020B0604020202020204" pitchFamily="34" charset="0"/>
              </a:rPr>
              <a:t> Real-time conversation via web or phone with AI assistant.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Live Doctor Availability:</a:t>
            </a:r>
            <a:r>
              <a:rPr kumimoji="0" lang="en-US" altLang="en-US" sz="2400" b="0" i="0" u="none" strike="noStrike" cap="none" normalizeH="0" baseline="0" dirty="0">
                <a:ln>
                  <a:noFill/>
                </a:ln>
                <a:solidFill>
                  <a:schemeClr val="tx1"/>
                </a:solidFill>
                <a:effectLst/>
                <a:latin typeface="Arial" panose="020B0604020202020204" pitchFamily="34" charset="0"/>
              </a:rPr>
              <a:t> Immediate updates on doctor schedules and time slots.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Administrative Dashboard:</a:t>
            </a:r>
            <a:r>
              <a:rPr kumimoji="0" lang="en-US" altLang="en-US" sz="2400" b="0" i="0" u="none" strike="noStrike" cap="none" normalizeH="0" baseline="0" dirty="0">
                <a:ln>
                  <a:noFill/>
                </a:ln>
                <a:solidFill>
                  <a:schemeClr val="tx1"/>
                </a:solidFill>
                <a:effectLst/>
                <a:latin typeface="Arial" panose="020B0604020202020204" pitchFamily="34" charset="0"/>
              </a:rPr>
              <a:t> Hospital staff can monitor appointments and KPIs in real-time.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Multi-Channel Access:</a:t>
            </a:r>
            <a:r>
              <a:rPr kumimoji="0" lang="en-US" altLang="en-US" sz="2400" b="0" i="0" u="none" strike="noStrike" cap="none" normalizeH="0" baseline="0" dirty="0">
                <a:ln>
                  <a:noFill/>
                </a:ln>
                <a:solidFill>
                  <a:schemeClr val="tx1"/>
                </a:solidFill>
                <a:effectLst/>
                <a:latin typeface="Arial" panose="020B0604020202020204" pitchFamily="34" charset="0"/>
              </a:rPr>
              <a:t> Web and telephony integration ensures services are available instantly across platforms.</a:t>
            </a:r>
          </a:p>
        </p:txBody>
      </p:sp>
      <p:grpSp>
        <p:nvGrpSpPr>
          <p:cNvPr id="5" name="object 2">
            <a:extLst>
              <a:ext uri="{FF2B5EF4-FFF2-40B4-BE49-F238E27FC236}">
                <a16:creationId xmlns:a16="http://schemas.microsoft.com/office/drawing/2014/main" id="{4534AFBD-4D2D-DDEE-028C-21C220AE22E1}"/>
              </a:ext>
            </a:extLst>
          </p:cNvPr>
          <p:cNvGrpSpPr/>
          <p:nvPr/>
        </p:nvGrpSpPr>
        <p:grpSpPr>
          <a:xfrm>
            <a:off x="0" y="0"/>
            <a:ext cx="12192000" cy="6858000"/>
            <a:chOff x="0" y="0"/>
            <a:chExt cx="12192000" cy="6858000"/>
          </a:xfrm>
        </p:grpSpPr>
        <p:pic>
          <p:nvPicPr>
            <p:cNvPr id="6" name="object 3">
              <a:extLst>
                <a:ext uri="{FF2B5EF4-FFF2-40B4-BE49-F238E27FC236}">
                  <a16:creationId xmlns:a16="http://schemas.microsoft.com/office/drawing/2014/main" id="{FB75379F-C3E7-B60A-9774-36AB96A302C6}"/>
                </a:ext>
              </a:extLst>
            </p:cNvPr>
            <p:cNvPicPr/>
            <p:nvPr/>
          </p:nvPicPr>
          <p:blipFill>
            <a:blip r:embed="rId2" cstate="print"/>
            <a:stretch>
              <a:fillRect/>
            </a:stretch>
          </p:blipFill>
          <p:spPr>
            <a:xfrm>
              <a:off x="0" y="0"/>
              <a:ext cx="12192000" cy="6858000"/>
            </a:xfrm>
            <a:prstGeom prst="rect">
              <a:avLst/>
            </a:prstGeom>
          </p:spPr>
        </p:pic>
        <p:pic>
          <p:nvPicPr>
            <p:cNvPr id="7" name="object 4">
              <a:extLst>
                <a:ext uri="{FF2B5EF4-FFF2-40B4-BE49-F238E27FC236}">
                  <a16:creationId xmlns:a16="http://schemas.microsoft.com/office/drawing/2014/main" id="{69D81592-6FF2-4D35-90BE-12CB9465BA9D}"/>
                </a:ext>
              </a:extLst>
            </p:cNvPr>
            <p:cNvPicPr/>
            <p:nvPr/>
          </p:nvPicPr>
          <p:blipFill>
            <a:blip r:embed="rId3" cstate="print"/>
            <a:stretch>
              <a:fillRect/>
            </a:stretch>
          </p:blipFill>
          <p:spPr>
            <a:xfrm>
              <a:off x="0" y="0"/>
              <a:ext cx="12172950" cy="6858000"/>
            </a:xfrm>
            <a:prstGeom prst="rect">
              <a:avLst/>
            </a:prstGeom>
          </p:spPr>
        </p:pic>
        <p:pic>
          <p:nvPicPr>
            <p:cNvPr id="8" name="object 5">
              <a:extLst>
                <a:ext uri="{FF2B5EF4-FFF2-40B4-BE49-F238E27FC236}">
                  <a16:creationId xmlns:a16="http://schemas.microsoft.com/office/drawing/2014/main" id="{8FB89727-C416-66B0-C327-0E7053BC80A9}"/>
                </a:ext>
              </a:extLst>
            </p:cNvPr>
            <p:cNvPicPr/>
            <p:nvPr/>
          </p:nvPicPr>
          <p:blipFill>
            <a:blip r:embed="rId4" cstate="print"/>
            <a:stretch>
              <a:fillRect/>
            </a:stretch>
          </p:blipFill>
          <p:spPr>
            <a:xfrm>
              <a:off x="9772650" y="161925"/>
              <a:ext cx="2181225" cy="600075"/>
            </a:xfrm>
            <a:prstGeom prst="rect">
              <a:avLst/>
            </a:prstGeom>
          </p:spPr>
        </p:pic>
      </p:grpSp>
    </p:spTree>
    <p:extLst>
      <p:ext uri="{BB962C8B-B14F-4D97-AF65-F5344CB8AC3E}">
        <p14:creationId xmlns:p14="http://schemas.microsoft.com/office/powerpoint/2010/main" val="21963224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288</TotalTime>
  <Words>2839</Words>
  <Application>Microsoft Office PowerPoint</Application>
  <PresentationFormat>Widescreen</PresentationFormat>
  <Paragraphs>179</Paragraphs>
  <Slides>24</Slides>
  <Notes>0</Notes>
  <HiddenSlides>10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Arial MT</vt:lpstr>
      <vt:lpstr>Arial Unicode MS</vt:lpstr>
      <vt:lpstr>Calibri</vt:lpstr>
      <vt:lpstr>Calibri Light</vt:lpstr>
      <vt:lpstr>Times New Roman</vt:lpstr>
      <vt:lpstr>Office Theme</vt:lpstr>
      <vt:lpstr>Project Sahay</vt:lpstr>
      <vt:lpstr>Abstract</vt:lpstr>
      <vt:lpstr>Objectives</vt:lpstr>
      <vt:lpstr>Introduction </vt:lpstr>
      <vt:lpstr>Literature Survey </vt:lpstr>
      <vt:lpstr>Literature Survey  </vt:lpstr>
      <vt:lpstr>Literature Survey Summary Table </vt:lpstr>
      <vt:lpstr>Proposed System Architecture</vt:lpstr>
      <vt:lpstr>Sahay System Architecture </vt:lpstr>
      <vt:lpstr>SAHAY – Module Division</vt:lpstr>
      <vt:lpstr>SAHAY – Module Division</vt:lpstr>
      <vt:lpstr>Dataset Details </vt:lpstr>
      <vt:lpstr>Conclusion </vt:lpstr>
      <vt:lpstr>Thankyou</vt:lpstr>
      <vt:lpstr>Objectives</vt:lpstr>
      <vt:lpstr>Purpose of the project </vt:lpstr>
      <vt:lpstr>Motivation </vt:lpstr>
      <vt:lpstr>Literature Survey IEEE PAPER-1 </vt:lpstr>
      <vt:lpstr>Literature Survey IEEE PAPER-2  </vt:lpstr>
      <vt:lpstr>Literature Survey IEEE PAPER-3  </vt:lpstr>
      <vt:lpstr>Literature Survey IEEE PAPER-4  </vt:lpstr>
      <vt:lpstr>Literature Survey IEEE PAPER-5   </vt:lpstr>
      <vt:lpstr>Requirements</vt:lpstr>
      <vt:lpstr>Real Time Applications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Sampath Yadav</dc:creator>
  <cp:lastModifiedBy>Sampath Yadav</cp:lastModifiedBy>
  <cp:revision>7</cp:revision>
  <dcterms:created xsi:type="dcterms:W3CDTF">2025-09-23T03:11:36Z</dcterms:created>
  <dcterms:modified xsi:type="dcterms:W3CDTF">2025-11-13T18:52:49Z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2025-09-22T00:00:00Z</vt:filetime>
  </property>
  <property fmtid="{D5CDD505-2E9C-101B-9397-08002B2CF9AE}" pid="3" name="LastSaved">
    <vt:filetime>2025-09-23T00:00:00Z</vt:filetime>
  </property>
</Properties>
</file>